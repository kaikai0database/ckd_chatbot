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74" r:id="rId4"/>
    <p:sldId id="276" r:id="rId5"/>
    <p:sldId id="277" r:id="rId6"/>
    <p:sldId id="273" r:id="rId7"/>
    <p:sldId id="282" r:id="rId8"/>
    <p:sldId id="286" r:id="rId9"/>
    <p:sldId id="287" r:id="rId10"/>
    <p:sldId id="285" r:id="rId11"/>
    <p:sldId id="283" r:id="rId12"/>
    <p:sldId id="288" r:id="rId13"/>
    <p:sldId id="279" r:id="rId14"/>
    <p:sldId id="260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42A04"/>
    <a:srgbClr val="767171"/>
    <a:srgbClr val="E2F0D9"/>
    <a:srgbClr val="ADB9CA"/>
    <a:srgbClr val="DAE3F3"/>
    <a:srgbClr val="F5F5F5"/>
    <a:srgbClr val="024D94"/>
    <a:srgbClr val="029492"/>
    <a:srgbClr val="181717"/>
    <a:srgbClr val="2D34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83" autoAdjust="0"/>
  </p:normalViewPr>
  <p:slideViewPr>
    <p:cSldViewPr snapToGrid="0">
      <p:cViewPr varScale="1">
        <p:scale>
          <a:sx n="106" d="100"/>
          <a:sy n="106" d="100"/>
        </p:scale>
        <p:origin x="22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0DD0D7-BF48-4A06-AE9D-B382E775A2CB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06A58-9151-4EE7-B2B4-3B6FDEEE7D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199922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這是</a:t>
            </a:r>
            <a:r>
              <a:rPr lang="en-US" altLang="zh-TW" dirty="0"/>
              <a:t>2021</a:t>
            </a:r>
            <a:r>
              <a:rPr lang="zh-TW" altLang="en-US" dirty="0"/>
              <a:t>年疫情期間的照片</a:t>
            </a:r>
            <a:endParaRPr lang="en-US" altLang="zh-TW" dirty="0"/>
          </a:p>
          <a:p>
            <a:r>
              <a:rPr lang="zh-TW" altLang="en-US" dirty="0"/>
              <a:t>疫情對整個世界產生了很重大的影響</a:t>
            </a:r>
            <a:endParaRPr lang="en-US" altLang="zh-TW" dirty="0"/>
          </a:p>
          <a:p>
            <a:r>
              <a:rPr lang="zh-TW" altLang="en-US" dirty="0"/>
              <a:t>我們來看一下疫情造成了什麼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6A58-9151-4EE7-B2B4-3B6FDEEE7D62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2045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疫情造成了什麼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F06A58-9151-4EE7-B2B4-3B6FDEEE7D62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042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F4F0A8-5B52-65BE-028F-B9B30DD649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F2D7BB8-8953-BA13-9F10-3BA24A5ECA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37603EB-AA41-68CA-A2BB-40F5851E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A30B435-6099-242B-89E2-13EA1C54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7DC539A-DDA7-2E07-79A9-7FB7E6F0C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31518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CAEF22-8260-5FA3-1F00-43E6767EC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E2092D-246B-2ED4-9155-9DC7A55F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1778D64-E5E8-18DA-A785-2E158A2594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DC3FEE2-B716-459E-7BA6-8D555B22A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4BBE6DB-B38F-62A6-03B0-B7A0065AD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25919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5B83BF-3E44-B316-1BC8-6FFA02C0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936CC2-8877-591D-A3F2-8F46126D3B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83563CF-1386-5801-DF49-F7B4C58F7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BD17121-BC68-5074-8410-9797D7C80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C959EA-2D0A-B297-E7F7-C385E1C5E0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4845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988B0C1-92E3-7B46-9931-C8A387EC0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9997E01-7A84-9E88-0DDC-2FE79FB0F3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AB55484-7B2F-880D-227C-C858575F1A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3ED0361-8E8C-626F-C31C-32B607B7B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7582964-D990-AB32-93DF-CFC451369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F9CB87B-EE4C-061A-798F-9D3658411A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67883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E80557-3FDA-DDD5-8DCC-28D044779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865025A-EBA1-05BE-D267-CD1E583530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13881ED-3858-B692-F556-5A1B1D2EC3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434873F-270A-7E7E-355B-5B0A803321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C7B34CC-2F5D-4867-D68E-7CEF830BA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84559A4-FFBE-9FEA-7050-DB460CD83F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CD31C28-39BC-5D1A-17E6-EE580B4483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A5FFC6F0-4E6B-7094-03E0-F612E2BC1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294100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FB8CF4-6D26-4E7D-36A0-AEF5462D0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968E2FCD-755F-8940-3B66-7905D18E1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58D17D-B4E6-EE9B-977F-415746BF7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9C14707-145E-50C8-FAF9-E4372270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6033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D3BB1C2-54E4-CCA1-CB2D-B6FDA52C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848A8BB2-8763-9076-446A-1D2E4238F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6542274-836C-117E-7669-91D7B5E2A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702350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5A6341-C1B5-459E-DA43-63CFE18D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0EB9AE-BDD1-7F37-89DD-012E8C1434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0B932F5-22D3-57D5-A938-EED0BD873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AC23B12-1463-2CDA-C19C-9F51F9115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8A56CE4-AEFB-5465-B1E6-F8EE8C2B1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53B5F4B-F198-DF37-CAC1-51589E172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989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3ED295F-944C-F782-1935-92910523F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C493E475-DF64-0868-8B6F-1FE352C8E1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D679FCB0-5275-2B6E-EED6-2C44AE03FB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9E9E5C5-9CEA-424D-6127-3BE714AD7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18CEA0F-C067-C16B-ECE7-060A47C6D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975178BF-E26A-9A52-1979-F6A222CA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9657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95D3BAD-1C99-0BD1-C09A-23903C054C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605404A-0D83-9EAF-8967-4679853814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EDAAB29-EA46-29C5-7D2E-A0C4DD6F5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5D54D3-CE58-CBC3-56E5-C16E717A9F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3BF3DDC-DC07-F274-A4E2-5D672C7B8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3777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B5F9E672-E9A5-C29F-CDD9-8FDA590D07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C09BCED-C640-643B-5852-0BE5BAC7FA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7A81E0F-6EB0-4B8F-FBA3-A466DF2CB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A1DB9F-757A-D3E1-3F6E-D8CA8AC42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AFD124-CF70-D4A1-45DF-6847B49C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2576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C84F3C-D814-5341-DB13-02E3E862E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1BF39CB-A8D3-A684-963F-7B486B6353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3D2A11A-15E9-E7F7-7479-096A224499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F8EC4-9103-4E41-A161-40F5D4F83C1E}" type="datetimeFigureOut">
              <a:rPr lang="zh-TW" altLang="en-US" smtClean="0"/>
              <a:t>2025/5/16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D48E59-4D35-A74F-6386-072FCA24E13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545806-9F58-D318-0786-9C2806C74A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79208A-E507-4576-BBD6-76F923FA862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821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30.jp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27.png"/><Relationship Id="rId7" Type="http://schemas.openxmlformats.org/officeDocument/2006/relationships/image" Target="../media/image35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7" Type="http://schemas.openxmlformats.org/officeDocument/2006/relationships/image" Target="../media/image4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1.png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FDF3AE-25B3-3908-6283-445427E1D9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92504" y="1971590"/>
            <a:ext cx="6734175" cy="481013"/>
          </a:xfrm>
        </p:spPr>
        <p:txBody>
          <a:bodyPr>
            <a:normAutofit/>
          </a:bodyPr>
          <a:lstStyle/>
          <a:p>
            <a:pPr algn="r"/>
            <a:r>
              <a:rPr lang="zh-TW" altLang="en-US" sz="2400" b="0" i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智創未來 </a:t>
            </a:r>
            <a:r>
              <a:rPr lang="en-US" altLang="zh-TW" sz="2400" b="0" i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: 2025 </a:t>
            </a:r>
            <a:r>
              <a:rPr lang="zh-TW" altLang="en-US" sz="2400" b="0" i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生成式</a:t>
            </a:r>
            <a:r>
              <a:rPr lang="en-US" altLang="zh-TW" sz="2400" b="0" i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AI</a:t>
            </a:r>
            <a:r>
              <a:rPr lang="zh-TW" altLang="en-US" sz="2400" b="0" i="0" dirty="0">
                <a:solidFill>
                  <a:schemeClr val="bg2">
                    <a:lumMod val="50000"/>
                  </a:schemeClr>
                </a:solidFill>
                <a:effectLst/>
                <a:latin typeface="Google Sans"/>
              </a:rPr>
              <a:t>創意設計競賽</a:t>
            </a:r>
            <a:endParaRPr lang="zh-TW" altLang="en-US" sz="24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97D6084-0135-A5FE-A62B-D7EA7646BF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73904" y="2452603"/>
            <a:ext cx="3152775" cy="407987"/>
          </a:xfrm>
        </p:spPr>
        <p:txBody>
          <a:bodyPr>
            <a:normAutofit lnSpcReduction="10000"/>
          </a:bodyPr>
          <a:lstStyle/>
          <a:p>
            <a:pPr algn="r"/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 邏輯思維設計組</a:t>
            </a:r>
          </a:p>
        </p:txBody>
      </p:sp>
      <p:sp>
        <p:nvSpPr>
          <p:cNvPr id="4" name="副標題 2">
            <a:extLst>
              <a:ext uri="{FF2B5EF4-FFF2-40B4-BE49-F238E27FC236}">
                <a16:creationId xmlns:a16="http://schemas.microsoft.com/office/drawing/2014/main" id="{4118F61D-CB49-4512-2BE6-847A464FBFFB}"/>
              </a:ext>
            </a:extLst>
          </p:cNvPr>
          <p:cNvSpPr txBox="1">
            <a:spLocks/>
          </p:cNvSpPr>
          <p:nvPr/>
        </p:nvSpPr>
        <p:spPr>
          <a:xfrm>
            <a:off x="10169354" y="2860590"/>
            <a:ext cx="1457325" cy="40798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TW" altLang="en-US" dirty="0">
                <a:solidFill>
                  <a:schemeClr val="bg2">
                    <a:lumMod val="50000"/>
                  </a:schemeClr>
                </a:solidFill>
              </a:rPr>
              <a:t>提案簡報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3105E4A-40D7-70EE-17F8-1310DBE210EF}"/>
              </a:ext>
            </a:extLst>
          </p:cNvPr>
          <p:cNvSpPr txBox="1"/>
          <p:nvPr/>
        </p:nvSpPr>
        <p:spPr>
          <a:xfrm>
            <a:off x="6878471" y="3244765"/>
            <a:ext cx="47482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3200" b="1" dirty="0"/>
              <a:t>整合知識圖譜與幾何深度學習於虛擬藥物篩選平台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16B46D9-5227-E2AD-C49A-2E7024C5AA3A}"/>
              </a:ext>
            </a:extLst>
          </p:cNvPr>
          <p:cNvSpPr txBox="1"/>
          <p:nvPr/>
        </p:nvSpPr>
        <p:spPr>
          <a:xfrm>
            <a:off x="7791857" y="6099896"/>
            <a:ext cx="38348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b="1" dirty="0">
                <a:solidFill>
                  <a:srgbClr val="024D94"/>
                </a:solidFill>
              </a:rPr>
              <a:t>亞洲大學 生物資訊與醫學工程學系</a:t>
            </a:r>
            <a:endParaRPr lang="en-US" altLang="zh-TW" b="1" dirty="0">
              <a:solidFill>
                <a:srgbClr val="024D94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B033BE6C-1305-8A27-C767-255A53F3F88D}"/>
              </a:ext>
            </a:extLst>
          </p:cNvPr>
          <p:cNvSpPr txBox="1"/>
          <p:nvPr/>
        </p:nvSpPr>
        <p:spPr>
          <a:xfrm>
            <a:off x="7143400" y="4445611"/>
            <a:ext cx="455897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dist"/>
            <a:r>
              <a:rPr lang="zh-TW" altLang="en-US" b="1" spc="1000" dirty="0"/>
              <a:t>AI智能虛擬藥物篩選平台</a:t>
            </a:r>
          </a:p>
        </p:txBody>
      </p:sp>
      <p:cxnSp>
        <p:nvCxnSpPr>
          <p:cNvPr id="12" name="直線接點 11">
            <a:extLst>
              <a:ext uri="{FF2B5EF4-FFF2-40B4-BE49-F238E27FC236}">
                <a16:creationId xmlns:a16="http://schemas.microsoft.com/office/drawing/2014/main" id="{7E07DCC7-B3BC-5AFB-076A-C3A6670C7F8A}"/>
              </a:ext>
            </a:extLst>
          </p:cNvPr>
          <p:cNvCxnSpPr>
            <a:cxnSpLocks/>
          </p:cNvCxnSpPr>
          <p:nvPr/>
        </p:nvCxnSpPr>
        <p:spPr>
          <a:xfrm>
            <a:off x="11500219" y="4945948"/>
            <a:ext cx="0" cy="6286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CA605E8E-0472-5462-153A-98B939C67B8F}"/>
              </a:ext>
            </a:extLst>
          </p:cNvPr>
          <p:cNvSpPr txBox="1"/>
          <p:nvPr/>
        </p:nvSpPr>
        <p:spPr>
          <a:xfrm>
            <a:off x="8390912" y="5535962"/>
            <a:ext cx="323576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TW" altLang="en-US" sz="2800" b="1" dirty="0">
                <a:solidFill>
                  <a:srgbClr val="024D94"/>
                </a:solidFill>
              </a:rPr>
              <a:t>林育全 李承諺</a:t>
            </a:r>
            <a:r>
              <a:rPr lang="zh-TW" altLang="en-US" b="1" dirty="0">
                <a:solidFill>
                  <a:srgbClr val="024D94"/>
                </a:solidFill>
              </a:rPr>
              <a:t>團隊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E3FC7134-AFB1-CB5A-A231-D3816DB074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47759"/>
            <a:ext cx="5428968" cy="4721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7553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終於降到個位數！今再添8死 6旬女無症狀快篩陰轉陽亡│新冠肺炎│疫情│確診│TVBS新聞網">
            <a:extLst>
              <a:ext uri="{FF2B5EF4-FFF2-40B4-BE49-F238E27FC236}">
                <a16:creationId xmlns:a16="http://schemas.microsoft.com/office/drawing/2014/main" id="{6E337C38-D240-719F-1B81-A3B53DB80E1E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875"/>
            <a:ext cx="12192000" cy="6855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087B2EF-938C-AFE5-562D-C612DF654ADF}"/>
              </a:ext>
            </a:extLst>
          </p:cNvPr>
          <p:cNvSpPr txBox="1"/>
          <p:nvPr/>
        </p:nvSpPr>
        <p:spPr>
          <a:xfrm>
            <a:off x="0" y="6393460"/>
            <a:ext cx="17911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TW" altLang="en-US" sz="1200" b="0" i="0" dirty="0">
                <a:effectLst/>
                <a:latin typeface="+mj-ea"/>
                <a:ea typeface="+mj-ea"/>
              </a:rPr>
              <a:t>時間：</a:t>
            </a:r>
            <a:r>
              <a:rPr lang="en-US" altLang="zh-TW" sz="1200" b="0" i="0" dirty="0">
                <a:effectLst/>
                <a:latin typeface="+mj-ea"/>
                <a:ea typeface="+mj-ea"/>
              </a:rPr>
              <a:t>2021/06/15 </a:t>
            </a:r>
          </a:p>
          <a:p>
            <a:pPr algn="l"/>
            <a:r>
              <a:rPr lang="zh-TW" altLang="en-US" sz="1200" b="0" i="0" dirty="0">
                <a:effectLst/>
                <a:latin typeface="+mj-ea"/>
                <a:ea typeface="+mj-ea"/>
              </a:rPr>
              <a:t>新聞引據：</a:t>
            </a:r>
            <a:r>
              <a:rPr lang="en-US" altLang="zh-TW" sz="1200" b="0" i="0" dirty="0">
                <a:effectLst/>
                <a:latin typeface="+mj-ea"/>
                <a:ea typeface="+mj-ea"/>
              </a:rPr>
              <a:t>TVBS</a:t>
            </a:r>
            <a:r>
              <a:rPr lang="zh-TW" altLang="en-US" sz="1200" b="0" i="0" dirty="0">
                <a:effectLst/>
                <a:latin typeface="+mj-ea"/>
                <a:ea typeface="+mj-ea"/>
              </a:rPr>
              <a:t>新聞網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80D589C-CE2B-E75C-60C5-5B63177698C5}"/>
              </a:ext>
            </a:extLst>
          </p:cNvPr>
          <p:cNvSpPr txBox="1"/>
          <p:nvPr/>
        </p:nvSpPr>
        <p:spPr>
          <a:xfrm>
            <a:off x="0" y="6021253"/>
            <a:ext cx="1091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COVID-19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453145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AA7F7BE-EEE8-4E80-51A6-EE304D4FD1E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0" i="0" dirty="0">
                <a:solidFill>
                  <a:srgbClr val="FFFFFF"/>
                </a:solidFill>
                <a:effectLst/>
                <a:latin typeface="custom-sans-serif"/>
              </a:rPr>
              <a:t>2020</a:t>
            </a:r>
            <a:endParaRPr lang="zh-TW" altLang="en-US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4155F67-3292-58B7-14B4-78E99859E6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378" r="21728" b="2536"/>
          <a:stretch/>
        </p:blipFill>
        <p:spPr>
          <a:xfrm>
            <a:off x="5301183" y="299977"/>
            <a:ext cx="6692630" cy="6102402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AEDA540-1A58-F152-54DB-EADDE77B4A4F}"/>
              </a:ext>
            </a:extLst>
          </p:cNvPr>
          <p:cNvSpPr txBox="1"/>
          <p:nvPr/>
        </p:nvSpPr>
        <p:spPr>
          <a:xfrm>
            <a:off x="388716" y="2562281"/>
            <a:ext cx="5049045" cy="33654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TW" b="0" i="0" dirty="0">
                <a:effectLst/>
                <a:latin typeface="+mn-ea"/>
              </a:rPr>
              <a:t>2020</a:t>
            </a:r>
            <a:r>
              <a:rPr lang="zh-TW" altLang="en-US" b="0" i="0" dirty="0">
                <a:effectLst/>
                <a:latin typeface="+mn-ea"/>
              </a:rPr>
              <a:t>年</a:t>
            </a:r>
            <a:r>
              <a:rPr lang="en-US" altLang="zh-TW" b="0" i="0" dirty="0">
                <a:effectLst/>
                <a:latin typeface="+mn-ea"/>
              </a:rPr>
              <a:t>1</a:t>
            </a:r>
            <a:r>
              <a:rPr lang="zh-TW" altLang="en-US" b="0" i="0" dirty="0">
                <a:effectLst/>
                <a:latin typeface="+mn-ea"/>
              </a:rPr>
              <a:t>月</a:t>
            </a:r>
            <a:r>
              <a:rPr lang="en-US" altLang="zh-TW" b="0" i="0" dirty="0">
                <a:effectLst/>
                <a:latin typeface="+mn-ea"/>
              </a:rPr>
              <a:t>20</a:t>
            </a:r>
            <a:r>
              <a:rPr lang="zh-TW" altLang="en-US" b="0" i="0" dirty="0">
                <a:effectLst/>
                <a:latin typeface="+mn-ea"/>
              </a:rPr>
              <a:t>日指揮中心成立，</a:t>
            </a:r>
            <a:endParaRPr lang="en-US" altLang="zh-TW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b="0" i="0" dirty="0">
                <a:effectLst/>
                <a:latin typeface="+mn-ea"/>
              </a:rPr>
              <a:t>國內歷經</a:t>
            </a:r>
            <a:r>
              <a:rPr lang="en-US" altLang="zh-TW" b="0" i="0" dirty="0">
                <a:effectLst/>
                <a:latin typeface="+mn-ea"/>
              </a:rPr>
              <a:t>3</a:t>
            </a:r>
            <a:r>
              <a:rPr lang="zh-TW" altLang="en-US" b="0" i="0" dirty="0">
                <a:effectLst/>
                <a:latin typeface="+mn-ea"/>
              </a:rPr>
              <a:t>波本土疫情，</a:t>
            </a:r>
            <a:endParaRPr lang="en-US" altLang="zh-TW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b="0" i="0" dirty="0">
                <a:effectLst/>
                <a:latin typeface="+mn-ea"/>
              </a:rPr>
              <a:t>全台</a:t>
            </a:r>
            <a:r>
              <a:rPr lang="en-US" altLang="zh-TW" b="0" i="0" dirty="0">
                <a:solidFill>
                  <a:srgbClr val="C42A04"/>
                </a:solidFill>
                <a:effectLst/>
                <a:latin typeface="+mn-ea"/>
              </a:rPr>
              <a:t>1023</a:t>
            </a:r>
            <a:r>
              <a:rPr lang="zh-TW" altLang="en-US" b="0" i="0" dirty="0">
                <a:solidFill>
                  <a:srgbClr val="C42A04"/>
                </a:solidFill>
                <a:effectLst/>
                <a:latin typeface="+mn-ea"/>
              </a:rPr>
              <a:t>萬人染疫</a:t>
            </a:r>
            <a:r>
              <a:rPr lang="zh-TW" altLang="en-US" b="0" i="0" dirty="0">
                <a:effectLst/>
                <a:latin typeface="+mn-ea"/>
              </a:rPr>
              <a:t>、</a:t>
            </a:r>
            <a:r>
              <a:rPr lang="en-US" altLang="zh-TW" b="0" i="0" dirty="0">
                <a:solidFill>
                  <a:srgbClr val="C42A04"/>
                </a:solidFill>
                <a:effectLst/>
                <a:latin typeface="+mn-ea"/>
              </a:rPr>
              <a:t>1</a:t>
            </a:r>
            <a:r>
              <a:rPr lang="zh-TW" altLang="en-US" b="0" i="0" dirty="0">
                <a:solidFill>
                  <a:srgbClr val="C42A04"/>
                </a:solidFill>
                <a:effectLst/>
                <a:latin typeface="+mn-ea"/>
              </a:rPr>
              <a:t>萬</a:t>
            </a:r>
            <a:r>
              <a:rPr lang="en-US" altLang="zh-TW" dirty="0">
                <a:solidFill>
                  <a:srgbClr val="C42A04"/>
                </a:solidFill>
                <a:latin typeface="+mn-ea"/>
              </a:rPr>
              <a:t>8</a:t>
            </a:r>
            <a:r>
              <a:rPr lang="en-US" altLang="zh-TW" b="0" i="0" dirty="0">
                <a:solidFill>
                  <a:srgbClr val="C42A04"/>
                </a:solidFill>
                <a:effectLst/>
                <a:latin typeface="+mn-ea"/>
              </a:rPr>
              <a:t>000</a:t>
            </a:r>
            <a:r>
              <a:rPr lang="zh-TW" altLang="en-US" b="0" i="0" dirty="0">
                <a:solidFill>
                  <a:srgbClr val="C42A04"/>
                </a:solidFill>
                <a:effectLst/>
                <a:latin typeface="+mn-ea"/>
              </a:rPr>
              <a:t>多人死亡</a:t>
            </a:r>
            <a:r>
              <a:rPr lang="zh-TW" altLang="en-US" b="0" i="0" dirty="0">
                <a:effectLst/>
                <a:latin typeface="+mn-ea"/>
              </a:rPr>
              <a:t>，</a:t>
            </a:r>
            <a:endParaRPr lang="en-US" altLang="zh-TW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b="0" i="0" dirty="0">
                <a:effectLst/>
                <a:latin typeface="+mn-ea"/>
              </a:rPr>
              <a:t>防疫政策從隔離</a:t>
            </a:r>
            <a:r>
              <a:rPr lang="en-US" altLang="zh-TW" b="0" i="0" dirty="0">
                <a:effectLst/>
                <a:latin typeface="+mn-ea"/>
              </a:rPr>
              <a:t>14+7</a:t>
            </a:r>
            <a:r>
              <a:rPr lang="zh-TW" altLang="en-US" b="0" i="0" dirty="0">
                <a:effectLst/>
                <a:latin typeface="+mn-ea"/>
              </a:rPr>
              <a:t>天到現今口罩令鬆綁。</a:t>
            </a:r>
            <a:endParaRPr lang="en-US" altLang="zh-TW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TW" dirty="0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b="0" i="0" dirty="0">
                <a:effectLst/>
                <a:latin typeface="+mn-ea"/>
              </a:rPr>
              <a:t>歷經</a:t>
            </a:r>
            <a:r>
              <a:rPr lang="en-US" altLang="zh-TW" b="0" i="0" dirty="0">
                <a:effectLst/>
                <a:latin typeface="+mn-ea"/>
              </a:rPr>
              <a:t>1197</a:t>
            </a:r>
            <a:r>
              <a:rPr lang="zh-TW" altLang="en-US" b="0" i="0" dirty="0">
                <a:effectLst/>
                <a:latin typeface="+mn-ea"/>
              </a:rPr>
              <a:t>天抗疫，</a:t>
            </a:r>
            <a:endParaRPr lang="en-US" altLang="zh-TW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TW" b="0" i="0" dirty="0">
                <a:effectLst/>
                <a:latin typeface="+mn-ea"/>
              </a:rPr>
              <a:t>2023</a:t>
            </a:r>
            <a:r>
              <a:rPr lang="zh-TW" altLang="en-US" b="0" i="0" dirty="0">
                <a:effectLst/>
                <a:latin typeface="+mn-ea"/>
              </a:rPr>
              <a:t>年</a:t>
            </a:r>
            <a:r>
              <a:rPr lang="en-US" altLang="zh-TW" b="0" i="0" dirty="0">
                <a:effectLst/>
                <a:latin typeface="+mn-ea"/>
              </a:rPr>
              <a:t>5</a:t>
            </a:r>
            <a:r>
              <a:rPr lang="zh-TW" altLang="en-US" b="0" i="0" dirty="0">
                <a:effectLst/>
                <a:latin typeface="+mn-ea"/>
              </a:rPr>
              <a:t>月</a:t>
            </a:r>
            <a:r>
              <a:rPr lang="en-US" altLang="zh-TW" b="0" i="0" dirty="0">
                <a:effectLst/>
                <a:latin typeface="+mn-ea"/>
              </a:rPr>
              <a:t>1</a:t>
            </a:r>
            <a:r>
              <a:rPr lang="zh-TW" altLang="en-US" b="0" i="0" dirty="0">
                <a:effectLst/>
                <a:latin typeface="+mn-ea"/>
              </a:rPr>
              <a:t>日</a:t>
            </a:r>
            <a:r>
              <a:rPr lang="en-US" altLang="zh-TW" b="0" i="0" dirty="0">
                <a:effectLst/>
                <a:latin typeface="+mn-ea"/>
              </a:rPr>
              <a:t>COVID-19</a:t>
            </a:r>
            <a:r>
              <a:rPr lang="zh-TW" altLang="en-US" b="0" i="0" dirty="0">
                <a:effectLst/>
                <a:latin typeface="+mn-ea"/>
              </a:rPr>
              <a:t>改為第四類法定傳染病，</a:t>
            </a:r>
            <a:endParaRPr lang="en-US" altLang="zh-TW" b="0" i="0" dirty="0">
              <a:effectLst/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TW" altLang="en-US" b="0" i="0" dirty="0">
                <a:effectLst/>
                <a:latin typeface="+mn-ea"/>
              </a:rPr>
              <a:t>指揮中心同步解編，任務告一段落。</a:t>
            </a:r>
            <a:endParaRPr lang="zh-TW" altLang="en-US" dirty="0">
              <a:latin typeface="+mn-ea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22EC47F-49A6-6D63-C483-31B3D88F499A}"/>
              </a:ext>
            </a:extLst>
          </p:cNvPr>
          <p:cNvSpPr/>
          <p:nvPr/>
        </p:nvSpPr>
        <p:spPr>
          <a:xfrm>
            <a:off x="5437761" y="299977"/>
            <a:ext cx="4108705" cy="773226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4DDB0B63-E557-B395-1AAB-34E00DB2F8F7}"/>
              </a:ext>
            </a:extLst>
          </p:cNvPr>
          <p:cNvSpPr/>
          <p:nvPr/>
        </p:nvSpPr>
        <p:spPr>
          <a:xfrm>
            <a:off x="8148118" y="1140737"/>
            <a:ext cx="2181885" cy="932507"/>
          </a:xfrm>
          <a:prstGeom prst="roundRect">
            <a:avLst/>
          </a:prstGeom>
          <a:noFill/>
          <a:ln w="38100">
            <a:solidFill>
              <a:srgbClr val="C42A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6DAB2BAB-2723-254D-7D1F-1BA1C37B357F}"/>
              </a:ext>
            </a:extLst>
          </p:cNvPr>
          <p:cNvSpPr/>
          <p:nvPr/>
        </p:nvSpPr>
        <p:spPr>
          <a:xfrm>
            <a:off x="10391446" y="1140737"/>
            <a:ext cx="1423326" cy="932507"/>
          </a:xfrm>
          <a:prstGeom prst="roundRect">
            <a:avLst/>
          </a:prstGeom>
          <a:noFill/>
          <a:ln w="38100">
            <a:solidFill>
              <a:srgbClr val="C42A0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6F11E514-E724-6769-517C-65575B83CE5B}"/>
              </a:ext>
            </a:extLst>
          </p:cNvPr>
          <p:cNvCxnSpPr/>
          <p:nvPr/>
        </p:nvCxnSpPr>
        <p:spPr>
          <a:xfrm>
            <a:off x="388716" y="5051834"/>
            <a:ext cx="2019506" cy="0"/>
          </a:xfrm>
          <a:prstGeom prst="straightConnector1">
            <a:avLst/>
          </a:prstGeom>
          <a:ln w="38100">
            <a:solidFill>
              <a:srgbClr val="C42A0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2C9DABBB-2BE7-C358-CE3F-50D628B0C873}"/>
              </a:ext>
            </a:extLst>
          </p:cNvPr>
          <p:cNvSpPr txBox="1"/>
          <p:nvPr/>
        </p:nvSpPr>
        <p:spPr>
          <a:xfrm>
            <a:off x="198187" y="365317"/>
            <a:ext cx="54425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4000" b="1" dirty="0">
                <a:latin typeface="+mn-ea"/>
              </a:rPr>
              <a:t>台灣                疫情總覽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E2F03FB1-BE0A-FEBC-E933-6EE7C13DAE3E}"/>
              </a:ext>
            </a:extLst>
          </p:cNvPr>
          <p:cNvSpPr txBox="1"/>
          <p:nvPr/>
        </p:nvSpPr>
        <p:spPr>
          <a:xfrm>
            <a:off x="1203649" y="365317"/>
            <a:ext cx="22287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/>
              <a:t>COVID-19</a:t>
            </a:r>
            <a:endParaRPr lang="zh-TW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1768306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xit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1+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82DAC22E-F244-DE82-9A60-6BD1339C9E97}"/>
              </a:ext>
            </a:extLst>
          </p:cNvPr>
          <p:cNvSpPr txBox="1"/>
          <p:nvPr/>
        </p:nvSpPr>
        <p:spPr>
          <a:xfrm>
            <a:off x="3576721" y="865759"/>
            <a:ext cx="50385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sz="4000" dirty="0">
                <a:latin typeface="+mj-ea"/>
                <a:ea typeface="+mj-ea"/>
              </a:rPr>
              <a:t>藥物篩選找到了什麼</a:t>
            </a:r>
            <a:r>
              <a:rPr lang="en-US" altLang="zh-TW" sz="4000" dirty="0">
                <a:latin typeface="+mj-ea"/>
                <a:ea typeface="+mj-ea"/>
              </a:rPr>
              <a:t>?</a:t>
            </a:r>
            <a:endParaRPr lang="zh-TW" altLang="en-US" sz="4000" dirty="0">
              <a:latin typeface="+mj-ea"/>
              <a:ea typeface="+mj-ea"/>
            </a:endParaRPr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660E32D5-AD71-B459-0796-43B595DFA6DE}"/>
              </a:ext>
            </a:extLst>
          </p:cNvPr>
          <p:cNvCxnSpPr/>
          <p:nvPr/>
        </p:nvCxnSpPr>
        <p:spPr>
          <a:xfrm flipH="1">
            <a:off x="0" y="1219702"/>
            <a:ext cx="34144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A9920B46-74CC-51F9-DAF1-42B772D19678}"/>
              </a:ext>
            </a:extLst>
          </p:cNvPr>
          <p:cNvCxnSpPr/>
          <p:nvPr/>
        </p:nvCxnSpPr>
        <p:spPr>
          <a:xfrm flipH="1">
            <a:off x="8777591" y="1219702"/>
            <a:ext cx="3414409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>
            <a:extLst>
              <a:ext uri="{FF2B5EF4-FFF2-40B4-BE49-F238E27FC236}">
                <a16:creationId xmlns:a16="http://schemas.microsoft.com/office/drawing/2014/main" id="{E7B3FD35-C37D-F97A-E743-B700FA893072}"/>
              </a:ext>
            </a:extLst>
          </p:cNvPr>
          <p:cNvSpPr/>
          <p:nvPr/>
        </p:nvSpPr>
        <p:spPr>
          <a:xfrm>
            <a:off x="3372821" y="1178114"/>
            <a:ext cx="83175" cy="831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A54FEBC1-A14B-6316-18EE-DA10A2CC98D9}"/>
              </a:ext>
            </a:extLst>
          </p:cNvPr>
          <p:cNvSpPr/>
          <p:nvPr/>
        </p:nvSpPr>
        <p:spPr>
          <a:xfrm>
            <a:off x="8736003" y="1175251"/>
            <a:ext cx="83175" cy="831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5AC8A6B-62DD-08B1-C7FD-71DCFE4DF27C}"/>
              </a:ext>
            </a:extLst>
          </p:cNvPr>
          <p:cNvSpPr txBox="1"/>
          <p:nvPr/>
        </p:nvSpPr>
        <p:spPr>
          <a:xfrm>
            <a:off x="685107" y="2276043"/>
            <a:ext cx="410507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第一款</a:t>
            </a:r>
            <a:r>
              <a:rPr lang="en-US" altLang="zh-TW" dirty="0"/>
              <a:t>12</a:t>
            </a:r>
            <a:r>
              <a:rPr lang="zh-TW" altLang="en-US" dirty="0"/>
              <a:t>歲以下兒童新冠藥物 </a:t>
            </a:r>
            <a:r>
              <a:rPr lang="en-US" altLang="zh-TW" dirty="0"/>
              <a:t>!</a:t>
            </a:r>
            <a:r>
              <a:rPr lang="zh-TW" altLang="en-US" dirty="0"/>
              <a:t> </a:t>
            </a:r>
            <a:r>
              <a:rPr lang="en-US" altLang="zh-TW" dirty="0"/>
              <a:t>Gilead</a:t>
            </a:r>
            <a:r>
              <a:rPr lang="zh-TW" altLang="en-US" dirty="0"/>
              <a:t>瑞德西韋搶先獲</a:t>
            </a:r>
            <a:r>
              <a:rPr lang="en-US" altLang="zh-TW" dirty="0"/>
              <a:t>FDA</a:t>
            </a:r>
            <a:r>
              <a:rPr lang="zh-TW" altLang="en-US" dirty="0"/>
              <a:t>批准</a:t>
            </a:r>
            <a:endParaRPr lang="en-US" altLang="zh-TW" dirty="0"/>
          </a:p>
          <a:p>
            <a:pPr algn="r"/>
            <a:r>
              <a:rPr lang="en-US" altLang="zh-TW" sz="1400" dirty="0"/>
              <a:t>GENE ONLINE 2022/04/26</a:t>
            </a:r>
            <a:endParaRPr lang="zh-TW" altLang="en-US" sz="1400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55616905-A25B-8BDA-77AE-586E9164C2AE}"/>
              </a:ext>
            </a:extLst>
          </p:cNvPr>
          <p:cNvSpPr txBox="1"/>
          <p:nvPr/>
        </p:nvSpPr>
        <p:spPr>
          <a:xfrm>
            <a:off x="7241982" y="5327514"/>
            <a:ext cx="45965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Remdesivir </a:t>
            </a:r>
            <a:r>
              <a:rPr lang="zh-TW" altLang="en-US" dirty="0"/>
              <a:t>成為第一個</a:t>
            </a:r>
            <a:r>
              <a:rPr lang="en-US" altLang="zh-TW" dirty="0"/>
              <a:t>FDA</a:t>
            </a:r>
            <a:r>
              <a:rPr lang="zh-TW" altLang="en-US" dirty="0"/>
              <a:t>核准</a:t>
            </a:r>
            <a:r>
              <a:rPr lang="en-US" altLang="zh-TW" dirty="0"/>
              <a:t>COVID19</a:t>
            </a:r>
            <a:r>
              <a:rPr lang="zh-TW" altLang="en-US" dirty="0"/>
              <a:t>療法</a:t>
            </a:r>
            <a:endParaRPr lang="en-US" altLang="zh-TW" dirty="0"/>
          </a:p>
          <a:p>
            <a:pPr algn="r"/>
            <a:r>
              <a:rPr lang="en-US" altLang="zh-TW" sz="1400" dirty="0"/>
              <a:t>GENE ONLINE 2020/10/23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D899EE93-85B8-2B44-07FB-251B9BC457A8}"/>
              </a:ext>
            </a:extLst>
          </p:cNvPr>
          <p:cNvSpPr txBox="1"/>
          <p:nvPr/>
        </p:nvSpPr>
        <p:spPr>
          <a:xfrm>
            <a:off x="6611205" y="3744511"/>
            <a:ext cx="42495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rPr>
              <a:t>美國開始瑞德西韋臨床試驗「黃金標準」　</a:t>
            </a:r>
            <a:r>
              <a:rPr lang="en-US" altLang="zh-TW" dirty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rPr>
              <a:t>WHO</a:t>
            </a:r>
            <a:r>
              <a:rPr lang="zh-TW" altLang="en-US" dirty="0">
                <a:solidFill>
                  <a:schemeClr val="accent4">
                    <a:lumMod val="75000"/>
                  </a:schemeClr>
                </a:solidFill>
                <a:latin typeface="+mj-ea"/>
                <a:ea typeface="+mj-ea"/>
              </a:rPr>
              <a:t>：已知唯一具實際效果的藥物</a:t>
            </a:r>
            <a:endParaRPr lang="en-US" altLang="zh-TW" dirty="0">
              <a:solidFill>
                <a:schemeClr val="accent4">
                  <a:lumMod val="7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en-US" altLang="zh-TW" sz="1400" dirty="0" err="1"/>
              <a:t>Ettoday</a:t>
            </a:r>
            <a:r>
              <a:rPr lang="zh-TW" altLang="en-US" sz="1400" dirty="0"/>
              <a:t>新聞雲 </a:t>
            </a:r>
            <a:r>
              <a:rPr lang="en-US" altLang="zh-TW" sz="1400" dirty="0"/>
              <a:t>2020/02/26</a:t>
            </a:r>
            <a:endParaRPr lang="zh-TW" altLang="en-US" sz="1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75509E3-BBBD-6F8E-87D0-E8D1B18E998E}"/>
              </a:ext>
            </a:extLst>
          </p:cNvPr>
          <p:cNvSpPr txBox="1"/>
          <p:nvPr/>
        </p:nvSpPr>
        <p:spPr>
          <a:xfrm>
            <a:off x="7820734" y="1766486"/>
            <a:ext cx="42495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5"/>
                </a:solidFill>
                <a:latin typeface="+mj-ea"/>
                <a:ea typeface="+mj-ea"/>
              </a:rPr>
              <a:t>新冠肺炎：美國默克藥廠推口服藥 臨牀測試證能有效降低重症及死亡風險</a:t>
            </a:r>
            <a:endParaRPr lang="en-US" altLang="zh-TW" dirty="0">
              <a:solidFill>
                <a:schemeClr val="accent5"/>
              </a:solidFill>
              <a:latin typeface="+mj-ea"/>
              <a:ea typeface="+mj-ea"/>
            </a:endParaRPr>
          </a:p>
          <a:p>
            <a:pPr algn="r"/>
            <a:r>
              <a:rPr lang="en-US" altLang="zh-TW" sz="1400" dirty="0"/>
              <a:t>BBC</a:t>
            </a:r>
            <a:r>
              <a:rPr lang="zh-TW" altLang="en-US" sz="1400" dirty="0"/>
              <a:t> </a:t>
            </a:r>
            <a:r>
              <a:rPr lang="en-US" altLang="zh-TW" sz="1400" dirty="0"/>
              <a:t>NEWS</a:t>
            </a:r>
            <a:r>
              <a:rPr lang="zh-TW" altLang="en-US" sz="1400" dirty="0"/>
              <a:t>中文 </a:t>
            </a:r>
            <a:r>
              <a:rPr lang="en-US" altLang="zh-TW" sz="1400" b="0" i="0" dirty="0">
                <a:solidFill>
                  <a:srgbClr val="545658"/>
                </a:solidFill>
                <a:effectLst/>
                <a:latin typeface="Helvetica" panose="020B0604020202020204" pitchFamily="34" charset="0"/>
              </a:rPr>
              <a:t>2021</a:t>
            </a:r>
            <a:r>
              <a:rPr lang="en-US" altLang="zh-TW" sz="1400" dirty="0">
                <a:solidFill>
                  <a:srgbClr val="545658"/>
                </a:solidFill>
                <a:latin typeface="Helvetica" panose="020B0604020202020204" pitchFamily="34" charset="0"/>
              </a:rPr>
              <a:t>/</a:t>
            </a:r>
            <a:r>
              <a:rPr lang="en-US" altLang="zh-TW" sz="1400" b="0" i="0" dirty="0">
                <a:solidFill>
                  <a:srgbClr val="545658"/>
                </a:solidFill>
                <a:effectLst/>
                <a:latin typeface="Helvetica" panose="020B0604020202020204" pitchFamily="34" charset="0"/>
              </a:rPr>
              <a:t>10</a:t>
            </a:r>
            <a:r>
              <a:rPr lang="en-US" altLang="zh-TW" sz="1400" dirty="0">
                <a:solidFill>
                  <a:srgbClr val="545658"/>
                </a:solidFill>
                <a:latin typeface="Helvetica" panose="020B0604020202020204" pitchFamily="34" charset="0"/>
              </a:rPr>
              <a:t>/0</a:t>
            </a:r>
            <a:r>
              <a:rPr lang="en-US" altLang="zh-TW" sz="1400" b="0" i="0" dirty="0">
                <a:solidFill>
                  <a:srgbClr val="545658"/>
                </a:solidFill>
                <a:effectLst/>
                <a:latin typeface="Helvetica" panose="020B0604020202020204" pitchFamily="34" charset="0"/>
              </a:rPr>
              <a:t>2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5FBFD388-CB10-F7B7-5D53-499B411BD192}"/>
              </a:ext>
            </a:extLst>
          </p:cNvPr>
          <p:cNvSpPr txBox="1"/>
          <p:nvPr/>
        </p:nvSpPr>
        <p:spPr>
          <a:xfrm>
            <a:off x="2451371" y="5189014"/>
            <a:ext cx="42495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默沙東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COVID-19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  <a:latin typeface="+mj-ea"/>
                <a:ea typeface="+mj-ea"/>
              </a:rPr>
              <a:t>口服藥是疫情扭轉者？效果、副作用一次看懂</a:t>
            </a:r>
            <a:endParaRPr lang="en-US" altLang="zh-TW" dirty="0">
              <a:solidFill>
                <a:schemeClr val="accent1">
                  <a:lumMod val="75000"/>
                </a:schemeClr>
              </a:solidFill>
              <a:latin typeface="+mj-ea"/>
              <a:ea typeface="+mj-ea"/>
            </a:endParaRPr>
          </a:p>
          <a:p>
            <a:pPr algn="r"/>
            <a:r>
              <a:rPr lang="zh-TW" altLang="en-US" sz="1400" dirty="0"/>
              <a:t>中央通訊社 </a:t>
            </a:r>
            <a:r>
              <a:rPr lang="en-US" altLang="zh-TW" sz="1400" b="0" i="0" dirty="0">
                <a:solidFill>
                  <a:srgbClr val="545658"/>
                </a:solidFill>
                <a:effectLst/>
                <a:latin typeface="Helvetica" panose="020B0604020202020204" pitchFamily="34" charset="0"/>
              </a:rPr>
              <a:t>2021/10/7</a:t>
            </a:r>
            <a:endParaRPr lang="zh-TW" altLang="en-US" sz="1400" dirty="0"/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C8B3E116-A604-3697-29FF-E40D4A65742D}"/>
              </a:ext>
            </a:extLst>
          </p:cNvPr>
          <p:cNvSpPr txBox="1"/>
          <p:nvPr/>
        </p:nvSpPr>
        <p:spPr>
          <a:xfrm>
            <a:off x="132947" y="3863991"/>
            <a:ext cx="424959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solidFill>
                  <a:srgbClr val="C42A04"/>
                </a:solidFill>
                <a:latin typeface="+mj-ea"/>
                <a:ea typeface="+mj-ea"/>
              </a:rPr>
              <a:t>世紀瘟疫又有特效藥！抗新冠病毒口服藥「</a:t>
            </a:r>
            <a:r>
              <a:rPr lang="en-US" altLang="zh-TW" dirty="0" err="1">
                <a:solidFill>
                  <a:srgbClr val="C42A04"/>
                </a:solidFill>
                <a:latin typeface="+mj-ea"/>
                <a:ea typeface="+mj-ea"/>
              </a:rPr>
              <a:t>molnupiravir</a:t>
            </a:r>
            <a:r>
              <a:rPr lang="zh-TW" altLang="en-US" dirty="0">
                <a:solidFill>
                  <a:srgbClr val="C42A04"/>
                </a:solidFill>
                <a:latin typeface="+mj-ea"/>
                <a:ea typeface="+mj-ea"/>
              </a:rPr>
              <a:t>」將申請緊急上市</a:t>
            </a:r>
            <a:endParaRPr lang="en-US" altLang="zh-TW" dirty="0">
              <a:solidFill>
                <a:srgbClr val="C42A04"/>
              </a:solidFill>
              <a:latin typeface="+mj-ea"/>
              <a:ea typeface="+mj-ea"/>
            </a:endParaRPr>
          </a:p>
          <a:p>
            <a:pPr algn="r"/>
            <a:r>
              <a:rPr lang="zh-TW" altLang="en-US" sz="1400" dirty="0"/>
              <a:t>風傳媒 </a:t>
            </a:r>
            <a:r>
              <a:rPr lang="en-US" altLang="zh-TW" sz="1400" b="0" i="0" dirty="0">
                <a:solidFill>
                  <a:srgbClr val="545658"/>
                </a:solidFill>
                <a:effectLst/>
                <a:latin typeface="Helvetica" panose="020B0604020202020204" pitchFamily="34" charset="0"/>
              </a:rPr>
              <a:t>2021/10/2</a:t>
            </a:r>
            <a:endParaRPr lang="zh-TW" altLang="en-US" sz="1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DE04ECD-13CD-E426-765D-EC5F9EFF0B96}"/>
              </a:ext>
            </a:extLst>
          </p:cNvPr>
          <p:cNvSpPr txBox="1"/>
          <p:nvPr/>
        </p:nvSpPr>
        <p:spPr>
          <a:xfrm>
            <a:off x="229187" y="545578"/>
            <a:ext cx="25576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i="0" dirty="0">
                <a:solidFill>
                  <a:srgbClr val="008080"/>
                </a:solidFill>
                <a:effectLst/>
                <a:latin typeface="+mj-lt"/>
              </a:rPr>
              <a:t>Remdesivir</a:t>
            </a:r>
            <a:endParaRPr lang="zh-TW" altLang="en-US" sz="4000" dirty="0">
              <a:latin typeface="+mj-lt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094A3D5D-0E0B-AAAD-FC3B-EAA37411A661}"/>
              </a:ext>
            </a:extLst>
          </p:cNvPr>
          <p:cNvSpPr txBox="1"/>
          <p:nvPr/>
        </p:nvSpPr>
        <p:spPr>
          <a:xfrm>
            <a:off x="8939901" y="545578"/>
            <a:ext cx="295856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b="1" dirty="0" err="1">
                <a:solidFill>
                  <a:srgbClr val="008080"/>
                </a:solidFill>
                <a:latin typeface="+mj-lt"/>
              </a:rPr>
              <a:t>Molnupiravir</a:t>
            </a:r>
            <a:endParaRPr lang="zh-TW" altLang="en-US" sz="4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06782110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500"/>
                            </p:stCondLst>
                            <p:childTnLst>
                              <p:par>
                                <p:cTn id="59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 animBg="1"/>
      <p:bldP spid="13" grpId="0" animBg="1"/>
      <p:bldP spid="14" grpId="0"/>
      <p:bldP spid="15" grpId="0"/>
      <p:bldP spid="16" grpId="0"/>
      <p:bldP spid="17" grpId="0"/>
      <p:bldP spid="18" grpId="0"/>
      <p:bldP spid="19" grpId="0"/>
      <p:bldP spid="2" grpId="0"/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C9CC3BA3-03E1-A4E7-C6FE-4FD76690102C}"/>
              </a:ext>
            </a:extLst>
          </p:cNvPr>
          <p:cNvSpPr txBox="1"/>
          <p:nvPr/>
        </p:nvSpPr>
        <p:spPr>
          <a:xfrm>
            <a:off x="408563" y="29182"/>
            <a:ext cx="33837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400" b="1" i="0" dirty="0">
                <a:solidFill>
                  <a:srgbClr val="008080"/>
                </a:solidFill>
                <a:effectLst/>
                <a:latin typeface="+mj-lt"/>
              </a:rPr>
              <a:t>Remdesivir</a:t>
            </a:r>
            <a:endParaRPr lang="zh-TW" altLang="en-US" sz="5400" dirty="0">
              <a:latin typeface="+mj-lt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10A9C7-DDD4-41D4-3C99-F26F78D889F5}"/>
              </a:ext>
            </a:extLst>
          </p:cNvPr>
          <p:cNvSpPr txBox="1"/>
          <p:nvPr/>
        </p:nvSpPr>
        <p:spPr>
          <a:xfrm>
            <a:off x="8022078" y="5710935"/>
            <a:ext cx="392511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5400" b="1" dirty="0" err="1">
                <a:solidFill>
                  <a:srgbClr val="008080"/>
                </a:solidFill>
                <a:latin typeface="+mj-lt"/>
              </a:rPr>
              <a:t>Molnupiravir</a:t>
            </a:r>
            <a:endParaRPr lang="zh-TW" altLang="en-US" sz="5400" dirty="0">
              <a:latin typeface="+mj-lt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6226D07F-1EC3-1F98-2526-DC29401B70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877" y="2102312"/>
            <a:ext cx="972766" cy="972766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BE536DA9-938F-94DE-C5F5-4359A92EE65B}"/>
              </a:ext>
            </a:extLst>
          </p:cNvPr>
          <p:cNvSpPr txBox="1"/>
          <p:nvPr/>
        </p:nvSpPr>
        <p:spPr>
          <a:xfrm>
            <a:off x="205846" y="326070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伊波拉病毒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735D8124-4F68-B886-A526-D161C27E1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579" y="1400718"/>
            <a:ext cx="972766" cy="972766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1E7BB133-5201-3A0B-FBC7-C213F9639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973739">
            <a:off x="4365676" y="1053798"/>
            <a:ext cx="972766" cy="972766"/>
          </a:xfrm>
          <a:prstGeom prst="rect">
            <a:avLst/>
          </a:prstGeom>
        </p:spPr>
      </p:pic>
      <p:pic>
        <p:nvPicPr>
          <p:cNvPr id="15" name="圖片 14">
            <a:extLst>
              <a:ext uri="{FF2B5EF4-FFF2-40B4-BE49-F238E27FC236}">
                <a16:creationId xmlns:a16="http://schemas.microsoft.com/office/drawing/2014/main" id="{525269AC-2830-B8A0-F441-0A025518C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583454">
            <a:off x="4224122" y="1935001"/>
            <a:ext cx="972766" cy="972766"/>
          </a:xfrm>
          <a:prstGeom prst="rect">
            <a:avLst/>
          </a:prstGeom>
        </p:spPr>
      </p:pic>
      <p:cxnSp>
        <p:nvCxnSpPr>
          <p:cNvPr id="17" name="直線單箭頭接點 16">
            <a:extLst>
              <a:ext uri="{FF2B5EF4-FFF2-40B4-BE49-F238E27FC236}">
                <a16:creationId xmlns:a16="http://schemas.microsoft.com/office/drawing/2014/main" id="{2CBA58E5-3FF7-867C-991B-8795E0F51BE7}"/>
              </a:ext>
            </a:extLst>
          </p:cNvPr>
          <p:cNvCxnSpPr/>
          <p:nvPr/>
        </p:nvCxnSpPr>
        <p:spPr>
          <a:xfrm flipV="1">
            <a:off x="1653472" y="2102312"/>
            <a:ext cx="1799617" cy="494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31127936-9206-FC56-0A64-F2BDB12EC2A6}"/>
              </a:ext>
            </a:extLst>
          </p:cNvPr>
          <p:cNvSpPr txBox="1"/>
          <p:nvPr/>
        </p:nvSpPr>
        <p:spPr>
          <a:xfrm rot="20734343">
            <a:off x="1662675" y="2033036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複製</a:t>
            </a:r>
            <a:r>
              <a:rPr lang="en-US" altLang="zh-TW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RNA</a:t>
            </a:r>
            <a:r>
              <a:rPr lang="zh-TW" altLang="en-US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模板</a:t>
            </a:r>
            <a:endParaRPr lang="zh-TW" altLang="en-US" b="1" dirty="0">
              <a:latin typeface="+mj-ea"/>
              <a:ea typeface="+mj-ea"/>
            </a:endParaRPr>
          </a:p>
        </p:txBody>
      </p:sp>
      <p:sp>
        <p:nvSpPr>
          <p:cNvPr id="21" name="文字方塊 20">
            <a:extLst>
              <a:ext uri="{FF2B5EF4-FFF2-40B4-BE49-F238E27FC236}">
                <a16:creationId xmlns:a16="http://schemas.microsoft.com/office/drawing/2014/main" id="{513D3D67-DDBE-6289-BD01-3E1523FBBD66}"/>
              </a:ext>
            </a:extLst>
          </p:cNvPr>
          <p:cNvSpPr txBox="1"/>
          <p:nvPr/>
        </p:nvSpPr>
        <p:spPr>
          <a:xfrm>
            <a:off x="4082237" y="292950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/>
              <a:t>伊波拉病毒</a:t>
            </a:r>
          </a:p>
        </p:txBody>
      </p:sp>
      <p:pic>
        <p:nvPicPr>
          <p:cNvPr id="24" name="圖片 23">
            <a:extLst>
              <a:ext uri="{FF2B5EF4-FFF2-40B4-BE49-F238E27FC236}">
                <a16:creationId xmlns:a16="http://schemas.microsoft.com/office/drawing/2014/main" id="{D92DF447-7C59-2BB3-A6FB-EB6BDC663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0876" y="5070594"/>
            <a:ext cx="972000" cy="972000"/>
          </a:xfrm>
          <a:prstGeom prst="rect">
            <a:avLst/>
          </a:prstGeom>
        </p:spPr>
      </p:pic>
      <p:pic>
        <p:nvPicPr>
          <p:cNvPr id="25" name="圖片 24">
            <a:extLst>
              <a:ext uri="{FF2B5EF4-FFF2-40B4-BE49-F238E27FC236}">
                <a16:creationId xmlns:a16="http://schemas.microsoft.com/office/drawing/2014/main" id="{3AC7E66B-40B7-0112-B7D7-75D72F784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2193" y="4379452"/>
            <a:ext cx="972000" cy="972000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B0074615-46D2-612A-0C44-36C23A1426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38"/>
          <a:stretch/>
        </p:blipFill>
        <p:spPr>
          <a:xfrm>
            <a:off x="4188300" y="3638856"/>
            <a:ext cx="972000" cy="796670"/>
          </a:xfrm>
          <a:prstGeom prst="rect">
            <a:avLst/>
          </a:prstGeom>
        </p:spPr>
      </p:pic>
      <p:pic>
        <p:nvPicPr>
          <p:cNvPr id="27" name="圖片 26">
            <a:extLst>
              <a:ext uri="{FF2B5EF4-FFF2-40B4-BE49-F238E27FC236}">
                <a16:creationId xmlns:a16="http://schemas.microsoft.com/office/drawing/2014/main" id="{A876CCE6-844B-BAA5-305B-2624F8AE3C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8038"/>
          <a:stretch/>
        </p:blipFill>
        <p:spPr>
          <a:xfrm>
            <a:off x="4938193" y="3788075"/>
            <a:ext cx="972000" cy="79667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0DD8BA63-9F37-B520-120E-754485BF749B}"/>
              </a:ext>
            </a:extLst>
          </p:cNvPr>
          <p:cNvSpPr txBox="1"/>
          <p:nvPr/>
        </p:nvSpPr>
        <p:spPr>
          <a:xfrm rot="20556843">
            <a:off x="2393856" y="4609794"/>
            <a:ext cx="16193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複製</a:t>
            </a:r>
            <a:r>
              <a:rPr lang="en-US" altLang="zh-TW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RNA</a:t>
            </a:r>
            <a:r>
              <a:rPr lang="zh-TW" altLang="en-US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模板</a:t>
            </a:r>
            <a:endParaRPr lang="zh-TW" altLang="en-US" b="1" dirty="0">
              <a:latin typeface="+mj-ea"/>
              <a:ea typeface="+mj-ea"/>
            </a:endParaRPr>
          </a:p>
        </p:txBody>
      </p:sp>
      <p:cxnSp>
        <p:nvCxnSpPr>
          <p:cNvPr id="32" name="直線單箭頭接點 31">
            <a:extLst>
              <a:ext uri="{FF2B5EF4-FFF2-40B4-BE49-F238E27FC236}">
                <a16:creationId xmlns:a16="http://schemas.microsoft.com/office/drawing/2014/main" id="{B1192EDD-9FB9-9870-55DD-3B808F8041EE}"/>
              </a:ext>
            </a:extLst>
          </p:cNvPr>
          <p:cNvCxnSpPr/>
          <p:nvPr/>
        </p:nvCxnSpPr>
        <p:spPr>
          <a:xfrm flipV="1">
            <a:off x="2460618" y="4702572"/>
            <a:ext cx="1799617" cy="4944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9" name="圖片 18">
            <a:extLst>
              <a:ext uri="{FF2B5EF4-FFF2-40B4-BE49-F238E27FC236}">
                <a16:creationId xmlns:a16="http://schemas.microsoft.com/office/drawing/2014/main" id="{7292E617-DCD2-DCFC-5CFD-D8D8D2C7E0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6766025">
            <a:off x="1805142" y="909154"/>
            <a:ext cx="648000" cy="648000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37A8EC9B-5B00-332E-FFB8-0EAF6426E4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3220" y="3356910"/>
            <a:ext cx="1144800" cy="1144800"/>
          </a:xfrm>
          <a:prstGeom prst="rect">
            <a:avLst/>
          </a:prstGeom>
        </p:spPr>
      </p:pic>
      <p:sp>
        <p:nvSpPr>
          <p:cNvPr id="36" name="文字方塊 35">
            <a:extLst>
              <a:ext uri="{FF2B5EF4-FFF2-40B4-BE49-F238E27FC236}">
                <a16:creationId xmlns:a16="http://schemas.microsoft.com/office/drawing/2014/main" id="{7B41FB58-01C4-9EAA-FAD0-91ADD772BDF5}"/>
              </a:ext>
            </a:extLst>
          </p:cNvPr>
          <p:cNvSpPr txBox="1"/>
          <p:nvPr/>
        </p:nvSpPr>
        <p:spPr>
          <a:xfrm>
            <a:off x="4299383" y="553012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i="0" dirty="0">
                <a:solidFill>
                  <a:srgbClr val="444444"/>
                </a:solidFill>
                <a:effectLst/>
                <a:latin typeface="·L³n¥¿¶ÂÅé"/>
              </a:rPr>
              <a:t>抑制病毒自我複製</a:t>
            </a:r>
            <a:endParaRPr lang="zh-TW" altLang="en-US" b="1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8200D5D-2C23-682B-595B-7D750DB884C1}"/>
              </a:ext>
            </a:extLst>
          </p:cNvPr>
          <p:cNvSpPr txBox="1"/>
          <p:nvPr/>
        </p:nvSpPr>
        <p:spPr>
          <a:xfrm>
            <a:off x="4414799" y="5911711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i="0" dirty="0">
                <a:solidFill>
                  <a:srgbClr val="444444"/>
                </a:solidFill>
                <a:effectLst/>
                <a:latin typeface="·L³n¥¿¶ÂÅé"/>
              </a:rPr>
              <a:t>終止聚合酶反應</a:t>
            </a:r>
            <a:endParaRPr lang="zh-TW" altLang="en-US" b="1" dirty="0"/>
          </a:p>
        </p:txBody>
      </p:sp>
      <p:cxnSp>
        <p:nvCxnSpPr>
          <p:cNvPr id="39" name="直線單箭頭接點 38">
            <a:extLst>
              <a:ext uri="{FF2B5EF4-FFF2-40B4-BE49-F238E27FC236}">
                <a16:creationId xmlns:a16="http://schemas.microsoft.com/office/drawing/2014/main" id="{03EE630C-DC89-40A7-68A4-13929F704C6B}"/>
              </a:ext>
            </a:extLst>
          </p:cNvPr>
          <p:cNvCxnSpPr/>
          <p:nvPr/>
        </p:nvCxnSpPr>
        <p:spPr>
          <a:xfrm flipH="1" flipV="1">
            <a:off x="6809362" y="1585609"/>
            <a:ext cx="3725693" cy="21904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F851932D-674A-5D28-9C3C-68B40A3D5056}"/>
              </a:ext>
            </a:extLst>
          </p:cNvPr>
          <p:cNvSpPr txBox="1"/>
          <p:nvPr/>
        </p:nvSpPr>
        <p:spPr>
          <a:xfrm>
            <a:off x="10955870" y="4581600"/>
            <a:ext cx="10621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Influenza</a:t>
            </a:r>
            <a:endParaRPr lang="zh-TW" altLang="en-US" b="1" dirty="0"/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9D1329F6-445F-D82A-3176-8512EE0F279B}"/>
              </a:ext>
            </a:extLst>
          </p:cNvPr>
          <p:cNvSpPr txBox="1"/>
          <p:nvPr/>
        </p:nvSpPr>
        <p:spPr>
          <a:xfrm rot="1954111">
            <a:off x="8224994" y="2366830"/>
            <a:ext cx="11576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複製</a:t>
            </a:r>
            <a:r>
              <a:rPr lang="en-US" altLang="zh-TW" b="1" i="0" dirty="0">
                <a:solidFill>
                  <a:srgbClr val="262626"/>
                </a:solidFill>
                <a:effectLst/>
                <a:latin typeface="+mj-ea"/>
                <a:ea typeface="+mj-ea"/>
              </a:rPr>
              <a:t>RNA</a:t>
            </a:r>
            <a:endParaRPr lang="zh-TW" altLang="en-US" b="1" dirty="0">
              <a:latin typeface="+mj-ea"/>
              <a:ea typeface="+mj-ea"/>
            </a:endParaRPr>
          </a:p>
        </p:txBody>
      </p:sp>
      <p:pic>
        <p:nvPicPr>
          <p:cNvPr id="43" name="圖片 42">
            <a:extLst>
              <a:ext uri="{FF2B5EF4-FFF2-40B4-BE49-F238E27FC236}">
                <a16:creationId xmlns:a16="http://schemas.microsoft.com/office/drawing/2014/main" id="{D1109A29-5D22-9952-D4E1-AEAEC4BD354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43838" y="3146108"/>
            <a:ext cx="1260000" cy="1260000"/>
          </a:xfrm>
          <a:prstGeom prst="rect">
            <a:avLst/>
          </a:prstGeom>
        </p:spPr>
      </p:pic>
      <p:sp>
        <p:nvSpPr>
          <p:cNvPr id="44" name="文字方塊 43">
            <a:extLst>
              <a:ext uri="{FF2B5EF4-FFF2-40B4-BE49-F238E27FC236}">
                <a16:creationId xmlns:a16="http://schemas.microsoft.com/office/drawing/2014/main" id="{37B5C419-92CF-352C-9DFE-4E833A052A09}"/>
              </a:ext>
            </a:extLst>
          </p:cNvPr>
          <p:cNvSpPr txBox="1"/>
          <p:nvPr/>
        </p:nvSpPr>
        <p:spPr>
          <a:xfrm>
            <a:off x="7602510" y="4417457"/>
            <a:ext cx="130676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3200" b="1" dirty="0">
                <a:solidFill>
                  <a:srgbClr val="C42A04"/>
                </a:solidFill>
                <a:latin typeface="+mj-ea"/>
                <a:ea typeface="+mj-ea"/>
              </a:rPr>
              <a:t>錯誤 </a:t>
            </a:r>
            <a:r>
              <a:rPr lang="en-US" altLang="zh-TW" sz="3200" b="1" dirty="0">
                <a:solidFill>
                  <a:srgbClr val="C42A04"/>
                </a:solidFill>
                <a:latin typeface="+mj-ea"/>
                <a:ea typeface="+mj-ea"/>
              </a:rPr>
              <a:t>!</a:t>
            </a:r>
            <a:endParaRPr lang="zh-TW" altLang="en-US" sz="3200" b="1" dirty="0">
              <a:solidFill>
                <a:srgbClr val="C42A04"/>
              </a:solidFill>
              <a:latin typeface="+mj-ea"/>
              <a:ea typeface="+mj-ea"/>
            </a:endParaRPr>
          </a:p>
        </p:txBody>
      </p:sp>
      <p:sp>
        <p:nvSpPr>
          <p:cNvPr id="45" name="文字方塊 44">
            <a:extLst>
              <a:ext uri="{FF2B5EF4-FFF2-40B4-BE49-F238E27FC236}">
                <a16:creationId xmlns:a16="http://schemas.microsoft.com/office/drawing/2014/main" id="{ECA02869-9736-3129-600B-ACEC29EE2126}"/>
              </a:ext>
            </a:extLst>
          </p:cNvPr>
          <p:cNvSpPr txBox="1"/>
          <p:nvPr/>
        </p:nvSpPr>
        <p:spPr>
          <a:xfrm rot="20560204">
            <a:off x="2098527" y="2376925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C42A04"/>
                </a:solidFill>
                <a:latin typeface="+mj-ea"/>
                <a:ea typeface="+mj-ea"/>
              </a:rPr>
              <a:t>干擾 </a:t>
            </a:r>
            <a:r>
              <a:rPr lang="en-US" altLang="zh-TW" sz="2400" b="1" dirty="0">
                <a:solidFill>
                  <a:srgbClr val="C42A04"/>
                </a:solidFill>
                <a:latin typeface="+mj-ea"/>
                <a:ea typeface="+mj-ea"/>
              </a:rPr>
              <a:t>!</a:t>
            </a:r>
            <a:endParaRPr lang="zh-TW" altLang="en-US" sz="2400" b="1" dirty="0">
              <a:solidFill>
                <a:srgbClr val="C42A04"/>
              </a:solidFill>
              <a:latin typeface="+mj-ea"/>
              <a:ea typeface="+mj-ea"/>
            </a:endParaRPr>
          </a:p>
        </p:txBody>
      </p:sp>
      <p:sp>
        <p:nvSpPr>
          <p:cNvPr id="46" name="文字方塊 45">
            <a:extLst>
              <a:ext uri="{FF2B5EF4-FFF2-40B4-BE49-F238E27FC236}">
                <a16:creationId xmlns:a16="http://schemas.microsoft.com/office/drawing/2014/main" id="{77DBF453-F4EA-4523-9085-6C103A269AF4}"/>
              </a:ext>
            </a:extLst>
          </p:cNvPr>
          <p:cNvSpPr txBox="1"/>
          <p:nvPr/>
        </p:nvSpPr>
        <p:spPr>
          <a:xfrm rot="20560204">
            <a:off x="2959690" y="4971598"/>
            <a:ext cx="10262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dirty="0">
                <a:solidFill>
                  <a:srgbClr val="C42A04"/>
                </a:solidFill>
                <a:latin typeface="+mj-ea"/>
                <a:ea typeface="+mj-ea"/>
              </a:rPr>
              <a:t>干擾 </a:t>
            </a:r>
            <a:r>
              <a:rPr lang="en-US" altLang="zh-TW" sz="2400" b="1" dirty="0">
                <a:solidFill>
                  <a:srgbClr val="C42A04"/>
                </a:solidFill>
                <a:latin typeface="+mj-ea"/>
                <a:ea typeface="+mj-ea"/>
              </a:rPr>
              <a:t>!</a:t>
            </a:r>
            <a:endParaRPr lang="zh-TW" altLang="en-US" sz="2400" b="1" dirty="0">
              <a:solidFill>
                <a:srgbClr val="C42A04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2836477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1.11111E-6 L 0.0569 0.32824 L 0.05781 0.33056 " pathEditMode="relative" rAng="0" ptsTypes="AAA">
                                      <p:cBhvr>
                                        <p:cTn id="6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91" y="16528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12657 -4.81481E-6 C 0.18308 -4.81481E-6 0.25313 0.19098 0.25313 0.34607 L 0.25313 0.69237 " pathEditMode="relative" rAng="0" ptsTypes="AAAA">
                                      <p:cBhvr>
                                        <p:cTn id="13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34606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5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-4.81481E-6 L 0.12657 -4.81481E-6 C 0.18308 -4.81481E-6 0.25313 0.19098 0.25313 0.34607 L 0.25313 0.69237 " pathEditMode="relative" rAng="0" ptsTypes="AAAA">
                                      <p:cBhvr>
                                        <p:cTn id="15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656" y="346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xit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5781 0.33056 L 0.13646 0.71134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932" y="19028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4.81481E-6 L 0.125 4.81481E-6 C 0.18099 4.81481E-6 0.25 0.09259 0.25 0.16782 L 0.25 0.33587 " pathEditMode="relative" rAng="0" ptsTypes="AAAA">
                                      <p:cBhvr>
                                        <p:cTn id="4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500" y="167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000"/>
                            </p:stCondLst>
                            <p:childTnLst>
                              <p:par>
                                <p:cTn id="48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500"/>
                            </p:stCondLst>
                            <p:childTnLst>
                              <p:par>
                                <p:cTn id="53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000"/>
                            </p:stCondLst>
                            <p:childTnLst>
                              <p:par>
                                <p:cTn id="58" presetID="2" presetClass="exit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1563 -0.01574 -0.03073 -0.0338 -0.04688 -0.04723 C -0.0625 -0.06019 -0.07891 -0.07084 -0.09375 -0.08611 C -0.1 -0.0926 -0.10586 -0.10093 -0.1125 -0.10556 C -0.13295 -0.12037 -0.15013 -0.12732 -0.17031 -0.13611 C -0.18021 -0.13426 -0.1905 -0.13519 -0.2 -0.13056 C -0.20677 -0.12755 -0.21875 -0.11389 -0.21875 -0.11389 C -0.22084 -0.10834 -0.22279 -0.10255 -0.225 -0.09723 C -0.22852 -0.08959 -0.23321 -0.08357 -0.23594 -0.075 C -0.24401 -0.05116 -0.2517 -0.00162 -0.25469 0.02222 C -0.25847 0.05046 -0.26133 0.07083 -0.26406 0.1 C -0.26693 0.12847 -0.26927 0.1574 -0.27188 0.18611 C -0.27292 0.19722 -0.27409 0.2081 -0.275 0.21944 C -0.27722 0.24328 -0.27917 0.26759 -0.28125 0.29166 C -0.28281 0.30833 -0.28594 0.34166 -0.28594 0.34166 C -0.28646 0.36389 -0.2875 0.38588 -0.2875 0.40833 C -0.2875 0.47361 -0.28542 0.5324 -0.28438 0.59722 C -0.28425 0.60625 -0.28438 0.61574 -0.28438 0.625 L -0.28438 0.625 " pathEditMode="relative" ptsTypes="AAAAAAAAAAAAAAAAAAAA">
                                      <p:cBhvr>
                                        <p:cTn id="75" dur="2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0 0 C -0.01563 -0.01574 -0.03073 -0.0338 -0.04688 -0.04723 C -0.0625 -0.06019 -0.07891 -0.07084 -0.09375 -0.08611 C -0.1 -0.0926 -0.10586 -0.10093 -0.1125 -0.10556 C -0.13295 -0.12037 -0.15013 -0.12732 -0.17031 -0.13611 C -0.18021 -0.13426 -0.1905 -0.13519 -0.2 -0.13056 C -0.20677 -0.12755 -0.21875 -0.11389 -0.21875 -0.11389 C -0.22084 -0.10834 -0.22279 -0.10255 -0.225 -0.09723 C -0.22852 -0.08959 -0.23321 -0.08357 -0.23594 -0.075 C -0.24401 -0.05116 -0.2517 -0.00162 -0.25469 0.02222 C -0.25847 0.05046 -0.26133 0.07083 -0.26406 0.1 C -0.26693 0.12847 -0.26927 0.1574 -0.27188 0.18611 C -0.27292 0.19722 -0.27409 0.2081 -0.275 0.21944 C -0.27722 0.24328 -0.27917 0.26759 -0.28125 0.29166 C -0.28281 0.30833 -0.28594 0.34166 -0.28594 0.34166 C -0.28646 0.36389 -0.2875 0.38588 -0.2875 0.40833 C -0.2875 0.47361 -0.28542 0.5324 -0.28438 0.59722 C -0.28425 0.60625 -0.28438 0.61574 -0.28438 0.625 L -0.28438 0.625 " pathEditMode="relative" ptsTypes="AAAAAAAAAAAAAAAAAAAA">
                                      <p:cBhvr>
                                        <p:cTn id="77" dur="2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1" grpId="0"/>
      <p:bldP spid="40" grpId="0"/>
      <p:bldP spid="44" grpId="0"/>
      <p:bldP spid="45" grpId="0"/>
      <p:bldP spid="4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2849BA5F-A1C8-8585-B874-88743CF9BEFA}"/>
              </a:ext>
            </a:extLst>
          </p:cNvPr>
          <p:cNvSpPr/>
          <p:nvPr/>
        </p:nvSpPr>
        <p:spPr>
          <a:xfrm>
            <a:off x="5947336" y="0"/>
            <a:ext cx="6244664" cy="6858000"/>
          </a:xfrm>
          <a:prstGeom prst="rect">
            <a:avLst/>
          </a:prstGeom>
          <a:solidFill>
            <a:srgbClr val="DAE3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F8456CAE-8643-543B-1CA3-79EF7177063F}"/>
              </a:ext>
            </a:extLst>
          </p:cNvPr>
          <p:cNvSpPr/>
          <p:nvPr/>
        </p:nvSpPr>
        <p:spPr>
          <a:xfrm>
            <a:off x="0" y="0"/>
            <a:ext cx="5947336" cy="6858000"/>
          </a:xfrm>
          <a:prstGeom prst="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BBC5DDA-A959-6BA8-2D81-EDE4D95291D6}"/>
              </a:ext>
            </a:extLst>
          </p:cNvPr>
          <p:cNvSpPr txBox="1"/>
          <p:nvPr/>
        </p:nvSpPr>
        <p:spPr>
          <a:xfrm>
            <a:off x="1153997" y="573441"/>
            <a:ext cx="36393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傳統藥物設計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178CF39-3F25-8EE7-343C-8BE5EACAA4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3997" y="1781853"/>
            <a:ext cx="1080000" cy="108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36AEB0CB-C706-2F32-B0EE-2EA3B93BE4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863" y="1781853"/>
            <a:ext cx="1080000" cy="1080000"/>
          </a:xfrm>
          <a:prstGeom prst="rect">
            <a:avLst/>
          </a:prstGeom>
        </p:spPr>
      </p:pic>
      <p:sp>
        <p:nvSpPr>
          <p:cNvPr id="9" name="箭號: 五邊形 12">
            <a:extLst>
              <a:ext uri="{FF2B5EF4-FFF2-40B4-BE49-F238E27FC236}">
                <a16:creationId xmlns:a16="http://schemas.microsoft.com/office/drawing/2014/main" id="{D4B44ED2-4EC1-8EE5-F33F-722C217530B5}"/>
              </a:ext>
            </a:extLst>
          </p:cNvPr>
          <p:cNvSpPr/>
          <p:nvPr/>
        </p:nvSpPr>
        <p:spPr>
          <a:xfrm>
            <a:off x="1153997" y="3362379"/>
            <a:ext cx="5543054" cy="1480083"/>
          </a:xfrm>
          <a:custGeom>
            <a:avLst/>
            <a:gdLst>
              <a:gd name="connsiteX0" fmla="*/ 0 w 3609226"/>
              <a:gd name="connsiteY0" fmla="*/ 0 h 954106"/>
              <a:gd name="connsiteX1" fmla="*/ 2943489 w 3609226"/>
              <a:gd name="connsiteY1" fmla="*/ 0 h 954106"/>
              <a:gd name="connsiteX2" fmla="*/ 3609226 w 3609226"/>
              <a:gd name="connsiteY2" fmla="*/ 477053 h 954106"/>
              <a:gd name="connsiteX3" fmla="*/ 2943489 w 3609226"/>
              <a:gd name="connsiteY3" fmla="*/ 954106 h 954106"/>
              <a:gd name="connsiteX4" fmla="*/ 0 w 3609226"/>
              <a:gd name="connsiteY4" fmla="*/ 954106 h 954106"/>
              <a:gd name="connsiteX5" fmla="*/ 0 w 3609226"/>
              <a:gd name="connsiteY5" fmla="*/ 0 h 954106"/>
              <a:gd name="connsiteX0" fmla="*/ 0 w 3609226"/>
              <a:gd name="connsiteY0" fmla="*/ 0 h 983135"/>
              <a:gd name="connsiteX1" fmla="*/ 2943489 w 3609226"/>
              <a:gd name="connsiteY1" fmla="*/ 0 h 983135"/>
              <a:gd name="connsiteX2" fmla="*/ 3609226 w 3609226"/>
              <a:gd name="connsiteY2" fmla="*/ 477053 h 983135"/>
              <a:gd name="connsiteX3" fmla="*/ 2943489 w 3609226"/>
              <a:gd name="connsiteY3" fmla="*/ 954106 h 983135"/>
              <a:gd name="connsiteX4" fmla="*/ 0 w 3609226"/>
              <a:gd name="connsiteY4" fmla="*/ 983135 h 983135"/>
              <a:gd name="connsiteX5" fmla="*/ 0 w 3609226"/>
              <a:gd name="connsiteY5" fmla="*/ 0 h 983135"/>
              <a:gd name="connsiteX0" fmla="*/ 0 w 3609226"/>
              <a:gd name="connsiteY0" fmla="*/ 0 h 983135"/>
              <a:gd name="connsiteX1" fmla="*/ 2943489 w 3609226"/>
              <a:gd name="connsiteY1" fmla="*/ 0 h 983135"/>
              <a:gd name="connsiteX2" fmla="*/ 3609226 w 3609226"/>
              <a:gd name="connsiteY2" fmla="*/ 477053 h 983135"/>
              <a:gd name="connsiteX3" fmla="*/ 2943489 w 3609226"/>
              <a:gd name="connsiteY3" fmla="*/ 954106 h 983135"/>
              <a:gd name="connsiteX4" fmla="*/ 0 w 3609226"/>
              <a:gd name="connsiteY4" fmla="*/ 983135 h 983135"/>
              <a:gd name="connsiteX5" fmla="*/ 0 w 3609226"/>
              <a:gd name="connsiteY5" fmla="*/ 0 h 983135"/>
              <a:gd name="connsiteX0" fmla="*/ 0 w 3609226"/>
              <a:gd name="connsiteY0" fmla="*/ 0 h 988478"/>
              <a:gd name="connsiteX1" fmla="*/ 2943489 w 3609226"/>
              <a:gd name="connsiteY1" fmla="*/ 0 h 988478"/>
              <a:gd name="connsiteX2" fmla="*/ 3609226 w 3609226"/>
              <a:gd name="connsiteY2" fmla="*/ 477053 h 988478"/>
              <a:gd name="connsiteX3" fmla="*/ 2943489 w 3609226"/>
              <a:gd name="connsiteY3" fmla="*/ 954106 h 988478"/>
              <a:gd name="connsiteX4" fmla="*/ 0 w 3609226"/>
              <a:gd name="connsiteY4" fmla="*/ 983135 h 988478"/>
              <a:gd name="connsiteX5" fmla="*/ 0 w 3609226"/>
              <a:gd name="connsiteY5" fmla="*/ 0 h 988478"/>
              <a:gd name="connsiteX0" fmla="*/ 0 w 3331715"/>
              <a:gd name="connsiteY0" fmla="*/ 0 h 988478"/>
              <a:gd name="connsiteX1" fmla="*/ 2943489 w 3331715"/>
              <a:gd name="connsiteY1" fmla="*/ 0 h 988478"/>
              <a:gd name="connsiteX2" fmla="*/ 3331715 w 3331715"/>
              <a:gd name="connsiteY2" fmla="*/ 489753 h 988478"/>
              <a:gd name="connsiteX3" fmla="*/ 2943489 w 3331715"/>
              <a:gd name="connsiteY3" fmla="*/ 954106 h 988478"/>
              <a:gd name="connsiteX4" fmla="*/ 0 w 3331715"/>
              <a:gd name="connsiteY4" fmla="*/ 983135 h 988478"/>
              <a:gd name="connsiteX5" fmla="*/ 0 w 3331715"/>
              <a:gd name="connsiteY5" fmla="*/ 0 h 988478"/>
              <a:gd name="connsiteX0" fmla="*/ 0 w 3331715"/>
              <a:gd name="connsiteY0" fmla="*/ 0 h 998556"/>
              <a:gd name="connsiteX1" fmla="*/ 2943489 w 3331715"/>
              <a:gd name="connsiteY1" fmla="*/ 0 h 998556"/>
              <a:gd name="connsiteX2" fmla="*/ 3331715 w 3331715"/>
              <a:gd name="connsiteY2" fmla="*/ 489753 h 998556"/>
              <a:gd name="connsiteX3" fmla="*/ 2943489 w 3331715"/>
              <a:gd name="connsiteY3" fmla="*/ 998556 h 998556"/>
              <a:gd name="connsiteX4" fmla="*/ 0 w 3331715"/>
              <a:gd name="connsiteY4" fmla="*/ 983135 h 998556"/>
              <a:gd name="connsiteX5" fmla="*/ 0 w 3331715"/>
              <a:gd name="connsiteY5" fmla="*/ 0 h 998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31715" h="998556">
                <a:moveTo>
                  <a:pt x="0" y="0"/>
                </a:moveTo>
                <a:lnTo>
                  <a:pt x="2943489" y="0"/>
                </a:lnTo>
                <a:lnTo>
                  <a:pt x="3331715" y="489753"/>
                </a:lnTo>
                <a:lnTo>
                  <a:pt x="2943489" y="998556"/>
                </a:lnTo>
                <a:lnTo>
                  <a:pt x="0" y="98313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72B3B2FA-23A1-A0BD-7BA6-01E6AA94F16F}"/>
              </a:ext>
            </a:extLst>
          </p:cNvPr>
          <p:cNvSpPr txBox="1"/>
          <p:nvPr/>
        </p:nvSpPr>
        <p:spPr>
          <a:xfrm>
            <a:off x="1337519" y="3665721"/>
            <a:ext cx="39082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2800" b="1" dirty="0">
                <a:latin typeface="+mn-ea"/>
              </a:rPr>
              <a:t>10-15</a:t>
            </a:r>
            <a:r>
              <a:rPr lang="zh-TW" altLang="en-US" sz="2800" dirty="0">
                <a:latin typeface="+mn-ea"/>
              </a:rPr>
              <a:t>年</a:t>
            </a:r>
            <a:endParaRPr lang="en-US" altLang="zh-TW" sz="2800" dirty="0">
              <a:latin typeface="+mn-ea"/>
            </a:endParaRPr>
          </a:p>
          <a:p>
            <a:pPr algn="ctr"/>
            <a:r>
              <a:rPr lang="en-US" altLang="zh-TW" sz="2800" b="1" dirty="0">
                <a:latin typeface="+mn-ea"/>
              </a:rPr>
              <a:t>150-200</a:t>
            </a:r>
            <a:r>
              <a:rPr lang="zh-TW" altLang="en-US" sz="2800" dirty="0">
                <a:latin typeface="+mn-ea"/>
              </a:rPr>
              <a:t>億台幣</a:t>
            </a: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8CCC19E4-28B0-7221-89BA-E69975441123}"/>
              </a:ext>
            </a:extLst>
          </p:cNvPr>
          <p:cNvSpPr txBox="1"/>
          <p:nvPr/>
        </p:nvSpPr>
        <p:spPr>
          <a:xfrm>
            <a:off x="7294681" y="573441"/>
            <a:ext cx="33849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4000" dirty="0"/>
              <a:t>虛擬藥物篩選</a:t>
            </a: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7BE97D9F-F244-D201-A432-36AC6210AC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72830" y="1781853"/>
            <a:ext cx="1080000" cy="1080000"/>
          </a:xfrm>
          <a:prstGeom prst="rect">
            <a:avLst/>
          </a:prstGeom>
        </p:spPr>
      </p:pic>
      <p:sp>
        <p:nvSpPr>
          <p:cNvPr id="13" name="箭號: ＞形 12">
            <a:extLst>
              <a:ext uri="{FF2B5EF4-FFF2-40B4-BE49-F238E27FC236}">
                <a16:creationId xmlns:a16="http://schemas.microsoft.com/office/drawing/2014/main" id="{7DE1EA2B-07FF-E421-014E-0A14FB9D7B70}"/>
              </a:ext>
            </a:extLst>
          </p:cNvPr>
          <p:cNvSpPr/>
          <p:nvPr/>
        </p:nvSpPr>
        <p:spPr>
          <a:xfrm>
            <a:off x="6364061" y="3362380"/>
            <a:ext cx="5126329" cy="1480082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88D57517-9C95-9461-A3D2-F659C5601F87}"/>
              </a:ext>
            </a:extLst>
          </p:cNvPr>
          <p:cNvSpPr txBox="1"/>
          <p:nvPr/>
        </p:nvSpPr>
        <p:spPr>
          <a:xfrm>
            <a:off x="8239051" y="3622848"/>
            <a:ext cx="227017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2800" b="1" dirty="0">
                <a:latin typeface="+mn-ea"/>
              </a:rPr>
              <a:t>5-7</a:t>
            </a:r>
            <a:r>
              <a:rPr lang="zh-TW" altLang="en-US" sz="2800" dirty="0">
                <a:latin typeface="+mn-ea"/>
              </a:rPr>
              <a:t>年</a:t>
            </a:r>
            <a:endParaRPr lang="en-US" altLang="zh-TW" sz="2800" dirty="0">
              <a:latin typeface="+mn-ea"/>
            </a:endParaRPr>
          </a:p>
          <a:p>
            <a:pPr algn="ctr"/>
            <a:r>
              <a:rPr lang="en-US" altLang="zh-TW" sz="2800" b="1" dirty="0">
                <a:latin typeface="+mn-ea"/>
              </a:rPr>
              <a:t>50-80</a:t>
            </a:r>
            <a:r>
              <a:rPr lang="zh-TW" altLang="en-US" sz="2800" dirty="0">
                <a:latin typeface="+mn-ea"/>
              </a:rPr>
              <a:t>億台幣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C472D429-A259-8524-4732-C93E2F3C0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61466" y="1781853"/>
            <a:ext cx="1080000" cy="1080000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24DCE9D9-AD60-448E-B57B-6C8097447995}"/>
              </a:ext>
            </a:extLst>
          </p:cNvPr>
          <p:cNvSpPr txBox="1"/>
          <p:nvPr/>
        </p:nvSpPr>
        <p:spPr>
          <a:xfrm>
            <a:off x="7243526" y="5265554"/>
            <a:ext cx="182614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TW" altLang="en-US" sz="3200" dirty="0">
                <a:latin typeface="+mj-ea"/>
                <a:ea typeface="+mj-ea"/>
              </a:rPr>
              <a:t>準確性</a:t>
            </a:r>
            <a:endParaRPr lang="en-US" altLang="zh-TW" sz="3200" dirty="0">
              <a:latin typeface="+mj-ea"/>
              <a:ea typeface="+mj-ea"/>
            </a:endParaRPr>
          </a:p>
          <a:p>
            <a:pPr algn="r"/>
            <a:r>
              <a:rPr lang="zh-TW" altLang="en-US" sz="3200" dirty="0">
                <a:latin typeface="+mj-ea"/>
                <a:ea typeface="+mj-ea"/>
              </a:rPr>
              <a:t>篩選速度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9CE1FBDE-C663-77E6-D6BE-8F5A22776181}"/>
              </a:ext>
            </a:extLst>
          </p:cNvPr>
          <p:cNvSpPr txBox="1"/>
          <p:nvPr/>
        </p:nvSpPr>
        <p:spPr>
          <a:xfrm>
            <a:off x="1153997" y="5514558"/>
            <a:ext cx="225093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zh-TW" sz="3200" dirty="0">
                <a:latin typeface="+mj-ea"/>
                <a:ea typeface="+mj-ea"/>
              </a:rPr>
              <a:t>60%</a:t>
            </a:r>
            <a:r>
              <a:rPr lang="zh-TW" altLang="en-US" sz="3200" dirty="0">
                <a:latin typeface="+mj-ea"/>
                <a:ea typeface="+mj-ea"/>
              </a:rPr>
              <a:t>失敗率</a:t>
            </a:r>
            <a:endParaRPr lang="en-US" altLang="zh-TW" sz="3200" dirty="0">
              <a:latin typeface="+mj-ea"/>
              <a:ea typeface="+mj-ea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9B50A735-69E7-76E5-30C2-66384AF150F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41537" y="5446945"/>
            <a:ext cx="720000" cy="72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BC041F9A-5BD3-7E59-73EF-44B672B4BFB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1466" y="5265554"/>
            <a:ext cx="1080000" cy="1080000"/>
          </a:xfrm>
          <a:prstGeom prst="rect">
            <a:avLst/>
          </a:prstGeom>
        </p:spPr>
      </p:pic>
      <p:sp>
        <p:nvSpPr>
          <p:cNvPr id="23" name="文字方塊 22">
            <a:extLst>
              <a:ext uri="{FF2B5EF4-FFF2-40B4-BE49-F238E27FC236}">
                <a16:creationId xmlns:a16="http://schemas.microsoft.com/office/drawing/2014/main" id="{A518A363-FE65-5D88-5DAB-33E153BF0A6A}"/>
              </a:ext>
            </a:extLst>
          </p:cNvPr>
          <p:cNvSpPr txBox="1"/>
          <p:nvPr/>
        </p:nvSpPr>
        <p:spPr>
          <a:xfrm>
            <a:off x="7192611" y="3529663"/>
            <a:ext cx="1046440" cy="116955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ctr"/>
            <a:r>
              <a:rPr lang="zh-TW" altLang="en-US" sz="2800" dirty="0"/>
              <a:t>減少為</a:t>
            </a:r>
            <a:endParaRPr lang="en-US" altLang="zh-TW" sz="2800" dirty="0"/>
          </a:p>
          <a:p>
            <a:pPr algn="ctr"/>
            <a:r>
              <a:rPr lang="zh-TW" altLang="en-US" sz="2800" dirty="0"/>
              <a:t>預估</a:t>
            </a:r>
          </a:p>
        </p:txBody>
      </p:sp>
    </p:spTree>
    <p:extLst>
      <p:ext uri="{BB962C8B-B14F-4D97-AF65-F5344CB8AC3E}">
        <p14:creationId xmlns:p14="http://schemas.microsoft.com/office/powerpoint/2010/main" val="1627054740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" grpId="0" animBg="1"/>
      <p:bldP spid="10" grpId="0"/>
      <p:bldP spid="11" grpId="0"/>
      <p:bldP spid="13" grpId="0" animBg="1"/>
      <p:bldP spid="14" grpId="0"/>
      <p:bldP spid="16" grpId="0"/>
      <p:bldP spid="17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BF377B-7075-8E11-538C-7EA76FC2ED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How to find drug?</a:t>
            </a:r>
            <a:endParaRPr lang="zh-TW" altLang="en-US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D3A3CED-85BC-5CD4-9392-C14F8E98D4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90688"/>
            <a:ext cx="3591128" cy="3591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375467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FD1E45B1-DA00-7A06-0F35-289FCE61988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" name="箭號: ＞形 3">
            <a:extLst>
              <a:ext uri="{FF2B5EF4-FFF2-40B4-BE49-F238E27FC236}">
                <a16:creationId xmlns:a16="http://schemas.microsoft.com/office/drawing/2014/main" id="{33370A9E-3A25-1CEA-3B3A-EF5459CCF141}"/>
              </a:ext>
            </a:extLst>
          </p:cNvPr>
          <p:cNvSpPr/>
          <p:nvPr/>
        </p:nvSpPr>
        <p:spPr>
          <a:xfrm rot="21128562">
            <a:off x="232066" y="2572981"/>
            <a:ext cx="11727868" cy="1878482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0000" dirty="0" err="1">
                <a:solidFill>
                  <a:srgbClr val="002060"/>
                </a:solidFill>
              </a:rPr>
              <a:t>TxGNN</a:t>
            </a:r>
            <a:endParaRPr lang="zh-TW" altLang="en-US" sz="10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985185"/>
      </p:ext>
    </p:extLst>
  </p:cSld>
  <p:clrMapOvr>
    <a:masterClrMapping/>
  </p:clrMapOvr>
  <p:transition spd="med"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D43A78-2627-FBE0-A70C-F5CC7FDD8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CA9C3559-558C-0B8B-A731-AFF56E5A29F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2E4701F9-3105-6814-960C-0D65C53A3A00}"/>
              </a:ext>
            </a:extLst>
          </p:cNvPr>
          <p:cNvSpPr/>
          <p:nvPr/>
        </p:nvSpPr>
        <p:spPr>
          <a:xfrm>
            <a:off x="1635332" y="1722560"/>
            <a:ext cx="2510800" cy="2716050"/>
          </a:xfrm>
          <a:prstGeom prst="ellipse">
            <a:avLst/>
          </a:prstGeom>
          <a:solidFill>
            <a:schemeClr val="bg1"/>
          </a:solidFill>
          <a:ln>
            <a:solidFill>
              <a:srgbClr val="DAE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H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F9E48E77-C784-63B1-198B-78DA81939ECF}"/>
              </a:ext>
            </a:extLst>
          </p:cNvPr>
          <p:cNvSpPr/>
          <p:nvPr/>
        </p:nvSpPr>
        <p:spPr>
          <a:xfrm>
            <a:off x="4530080" y="1737361"/>
            <a:ext cx="2510800" cy="2716050"/>
          </a:xfrm>
          <a:prstGeom prst="ellipse">
            <a:avLst/>
          </a:prstGeom>
          <a:solidFill>
            <a:schemeClr val="bg1"/>
          </a:solidFill>
          <a:ln>
            <a:solidFill>
              <a:srgbClr val="DAE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H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3" name="Picture 6" descr="Harvard Logo Vector at Vectorified.com | Collection of Harvard Logo ...">
            <a:extLst>
              <a:ext uri="{FF2B5EF4-FFF2-40B4-BE49-F238E27FC236}">
                <a16:creationId xmlns:a16="http://schemas.microsoft.com/office/drawing/2014/main" id="{CE9E3CB7-BC1C-D49F-2E4F-B0A15DFFF5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56372" y="2639643"/>
            <a:ext cx="1278545" cy="15320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88331A76-8F5C-335F-502E-31742C5A310C}"/>
              </a:ext>
            </a:extLst>
          </p:cNvPr>
          <p:cNvSpPr txBox="1"/>
          <p:nvPr/>
        </p:nvSpPr>
        <p:spPr>
          <a:xfrm>
            <a:off x="2064523" y="1993312"/>
            <a:ext cx="16524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b="1" dirty="0"/>
              <a:t>HARVARD</a:t>
            </a:r>
          </a:p>
          <a:p>
            <a:pPr algn="ctr"/>
            <a:r>
              <a:rPr lang="en-US" altLang="zh-TW" b="1" dirty="0"/>
              <a:t>UNIVERSITY</a:t>
            </a:r>
            <a:endParaRPr lang="zh-TW" altLang="en-US" b="1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3CE8576-89E7-2E10-5357-CEA62C325F35}"/>
              </a:ext>
            </a:extLst>
          </p:cNvPr>
          <p:cNvSpPr txBox="1"/>
          <p:nvPr/>
        </p:nvSpPr>
        <p:spPr>
          <a:xfrm>
            <a:off x="1340876" y="4527437"/>
            <a:ext cx="30997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dirty="0"/>
              <a:t>哈佛大學 </a:t>
            </a:r>
            <a:r>
              <a:rPr lang="en-US" altLang="zh-TW" dirty="0"/>
              <a:t>Marinka Zitnik </a:t>
            </a:r>
          </a:p>
          <a:p>
            <a:pPr algn="ctr"/>
            <a:r>
              <a:rPr lang="zh-TW" altLang="en-US" dirty="0"/>
              <a:t>研究團隊開發</a:t>
            </a: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DAF6921A-B5BF-E1F3-E237-76C20BB95306}"/>
              </a:ext>
            </a:extLst>
          </p:cNvPr>
          <p:cNvSpPr/>
          <p:nvPr/>
        </p:nvSpPr>
        <p:spPr>
          <a:xfrm>
            <a:off x="7424828" y="1737361"/>
            <a:ext cx="2510800" cy="2716050"/>
          </a:xfrm>
          <a:prstGeom prst="ellipse">
            <a:avLst/>
          </a:prstGeom>
          <a:solidFill>
            <a:schemeClr val="bg1"/>
          </a:solidFill>
          <a:ln>
            <a:solidFill>
              <a:srgbClr val="DAE3F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bg1"/>
                </a:solidFill>
              </a:rPr>
              <a:t>H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2050" name="Picture 2" descr="Overview of the Graph Neural Network model - GNN — gnn 1.2.0 documentation">
            <a:extLst>
              <a:ext uri="{FF2B5EF4-FFF2-40B4-BE49-F238E27FC236}">
                <a16:creationId xmlns:a16="http://schemas.microsoft.com/office/drawing/2014/main" id="{035403B1-18D6-C9D4-1DA6-26F5EA215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4626687" y="2534735"/>
            <a:ext cx="2337905" cy="11698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021CED99-6EF8-6157-3209-B72DE16276A8}"/>
              </a:ext>
            </a:extLst>
          </p:cNvPr>
          <p:cNvSpPr txBox="1"/>
          <p:nvPr/>
        </p:nvSpPr>
        <p:spPr>
          <a:xfrm>
            <a:off x="4769816" y="4665937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幾何深度學習模型</a:t>
            </a: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770389F2-E979-E39C-8C64-6FECF9BD5345}"/>
              </a:ext>
            </a:extLst>
          </p:cNvPr>
          <p:cNvSpPr txBox="1"/>
          <p:nvPr/>
        </p:nvSpPr>
        <p:spPr>
          <a:xfrm>
            <a:off x="7496007" y="4527436"/>
            <a:ext cx="25220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TW" altLang="en-US" dirty="0"/>
              <a:t>專為藥物再利用設計的圖論模型</a:t>
            </a:r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8558838F-33A2-7F74-DC3B-9FBAA2DFA9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228" y="2285385"/>
            <a:ext cx="1620000" cy="1620000"/>
          </a:xfrm>
          <a:prstGeom prst="rect">
            <a:avLst/>
          </a:prstGeom>
        </p:spPr>
      </p:pic>
      <p:pic>
        <p:nvPicPr>
          <p:cNvPr id="19" name="圖片 18">
            <a:extLst>
              <a:ext uri="{FF2B5EF4-FFF2-40B4-BE49-F238E27FC236}">
                <a16:creationId xmlns:a16="http://schemas.microsoft.com/office/drawing/2014/main" id="{559EF8C0-E10B-C7B5-4FD4-97E429DF8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21020" y="2144585"/>
            <a:ext cx="1872000" cy="1872000"/>
          </a:xfrm>
          <a:prstGeom prst="rect">
            <a:avLst/>
          </a:prstGeom>
        </p:spPr>
      </p:pic>
      <p:sp>
        <p:nvSpPr>
          <p:cNvPr id="4" name="箭號: ＞形 3">
            <a:extLst>
              <a:ext uri="{FF2B5EF4-FFF2-40B4-BE49-F238E27FC236}">
                <a16:creationId xmlns:a16="http://schemas.microsoft.com/office/drawing/2014/main" id="{15477C7D-4DC6-13DC-7E57-ECF65A5D09C5}"/>
              </a:ext>
            </a:extLst>
          </p:cNvPr>
          <p:cNvSpPr/>
          <p:nvPr/>
        </p:nvSpPr>
        <p:spPr>
          <a:xfrm>
            <a:off x="3988911" y="436573"/>
            <a:ext cx="3593134" cy="786207"/>
          </a:xfrm>
          <a:prstGeom prst="chevron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4000" dirty="0" err="1">
                <a:solidFill>
                  <a:srgbClr val="002060"/>
                </a:solidFill>
              </a:rPr>
              <a:t>TxGNN</a:t>
            </a:r>
            <a:endParaRPr lang="zh-TW" altLang="en-US" sz="4000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44872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6" presetClass="entr" presetSubtype="3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2" grpId="0" animBg="1"/>
      <p:bldP spid="7" grpId="0"/>
      <p:bldP spid="8" grpId="0"/>
      <p:bldP spid="10" grpId="0" animBg="1"/>
      <p:bldP spid="11" grpId="0"/>
      <p:bldP spid="1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F25306-E0F4-03DE-6EC7-83968DF4E1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矩形 39">
            <a:extLst>
              <a:ext uri="{FF2B5EF4-FFF2-40B4-BE49-F238E27FC236}">
                <a16:creationId xmlns:a16="http://schemas.microsoft.com/office/drawing/2014/main" id="{FA11E78A-DE27-F449-02B5-F4D2FCEB1A20}"/>
              </a:ext>
            </a:extLst>
          </p:cNvPr>
          <p:cNvSpPr/>
          <p:nvPr/>
        </p:nvSpPr>
        <p:spPr>
          <a:xfrm>
            <a:off x="2435520" y="0"/>
            <a:ext cx="9756480" cy="685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E90E2AA-B235-8701-2B43-A31029E2D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479" y="2447261"/>
            <a:ext cx="900000" cy="900000"/>
          </a:xfrm>
          <a:prstGeom prst="rect">
            <a:avLst/>
          </a:prstGeom>
        </p:spPr>
      </p:pic>
      <p:grpSp>
        <p:nvGrpSpPr>
          <p:cNvPr id="16" name="群組 15">
            <a:extLst>
              <a:ext uri="{FF2B5EF4-FFF2-40B4-BE49-F238E27FC236}">
                <a16:creationId xmlns:a16="http://schemas.microsoft.com/office/drawing/2014/main" id="{9C013D47-BB1B-8D62-F70D-B5A44FB155A2}"/>
              </a:ext>
            </a:extLst>
          </p:cNvPr>
          <p:cNvGrpSpPr/>
          <p:nvPr/>
        </p:nvGrpSpPr>
        <p:grpSpPr>
          <a:xfrm>
            <a:off x="299370" y="767316"/>
            <a:ext cx="1494095" cy="1546331"/>
            <a:chOff x="254515" y="767316"/>
            <a:chExt cx="1494095" cy="1546331"/>
          </a:xfrm>
        </p:grpSpPr>
        <p:pic>
          <p:nvPicPr>
            <p:cNvPr id="6" name="圖片 5">
              <a:extLst>
                <a:ext uri="{FF2B5EF4-FFF2-40B4-BE49-F238E27FC236}">
                  <a16:creationId xmlns:a16="http://schemas.microsoft.com/office/drawing/2014/main" id="{0E0986C8-B927-F69E-2311-E9EA812B22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51562" y="767316"/>
              <a:ext cx="900000" cy="900000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9C0EDCF8-9894-FEB3-6D80-7B9D667B9106}"/>
                </a:ext>
              </a:extLst>
            </p:cNvPr>
            <p:cNvSpPr txBox="1"/>
            <p:nvPr/>
          </p:nvSpPr>
          <p:spPr>
            <a:xfrm>
              <a:off x="254515" y="1667316"/>
              <a:ext cx="1494095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TW" dirty="0"/>
                <a:t>Indication</a:t>
              </a:r>
              <a:r>
                <a:rPr lang="zh-TW" altLang="en-US" dirty="0"/>
                <a:t>（適應症）</a:t>
              </a:r>
            </a:p>
          </p:txBody>
        </p:sp>
      </p:grp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6BA1B57-B6A1-B769-4615-B4E64968D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5639357"/>
              </p:ext>
            </p:extLst>
          </p:nvPr>
        </p:nvGraphicFramePr>
        <p:xfrm>
          <a:off x="74868" y="3347261"/>
          <a:ext cx="1879305" cy="640080"/>
        </p:xfrm>
        <a:graphic>
          <a:graphicData uri="http://schemas.openxmlformats.org/drawingml/2006/table">
            <a:tbl>
              <a:tblPr/>
              <a:tblGrid>
                <a:gridCol w="1879305">
                  <a:extLst>
                    <a:ext uri="{9D8B030D-6E8A-4147-A177-3AD203B41FA5}">
                      <a16:colId xmlns:a16="http://schemas.microsoft.com/office/drawing/2014/main" val="173446256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Contraindication</a:t>
                      </a:r>
                      <a:r>
                        <a:rPr lang="zh-TW" altLang="en-US" dirty="0"/>
                        <a:t>（禁忌症）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691826"/>
                  </a:ext>
                </a:extLst>
              </a:tr>
            </a:tbl>
          </a:graphicData>
        </a:graphic>
      </p:graphicFrame>
      <p:grpSp>
        <p:nvGrpSpPr>
          <p:cNvPr id="17" name="群組 16">
            <a:extLst>
              <a:ext uri="{FF2B5EF4-FFF2-40B4-BE49-F238E27FC236}">
                <a16:creationId xmlns:a16="http://schemas.microsoft.com/office/drawing/2014/main" id="{40BC2266-F6D7-368E-6AD6-31B0F7BB004B}"/>
              </a:ext>
            </a:extLst>
          </p:cNvPr>
          <p:cNvGrpSpPr/>
          <p:nvPr/>
        </p:nvGrpSpPr>
        <p:grpSpPr>
          <a:xfrm>
            <a:off x="114273" y="4247261"/>
            <a:ext cx="1800493" cy="1591341"/>
            <a:chOff x="146172" y="4499343"/>
            <a:chExt cx="1800493" cy="1591341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17C3AB14-66B0-4CC4-20BB-1D95A3AB7B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418" y="4499343"/>
              <a:ext cx="900000" cy="900000"/>
            </a:xfrm>
            <a:prstGeom prst="rect">
              <a:avLst/>
            </a:prstGeom>
          </p:spPr>
        </p:pic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491F55B0-F2B2-0531-1D61-13728C49CC84}"/>
                </a:ext>
              </a:extLst>
            </p:cNvPr>
            <p:cNvSpPr txBox="1"/>
            <p:nvPr/>
          </p:nvSpPr>
          <p:spPr>
            <a:xfrm>
              <a:off x="146172" y="5444353"/>
              <a:ext cx="1800493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dirty="0"/>
                <a:t>Off-label Use</a:t>
              </a:r>
            </a:p>
            <a:p>
              <a:pPr algn="ctr"/>
              <a:r>
                <a:rPr lang="zh-TW" altLang="en-US" dirty="0"/>
                <a:t>（非標示用法）</a:t>
              </a:r>
            </a:p>
          </p:txBody>
        </p:sp>
      </p:grp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73E6CE21-FA33-DDE0-5828-D8C04BEF820E}"/>
              </a:ext>
            </a:extLst>
          </p:cNvPr>
          <p:cNvSpPr/>
          <p:nvPr/>
        </p:nvSpPr>
        <p:spPr>
          <a:xfrm>
            <a:off x="2334510" y="1429190"/>
            <a:ext cx="6660000" cy="3240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: 圓角 18">
            <a:extLst>
              <a:ext uri="{FF2B5EF4-FFF2-40B4-BE49-F238E27FC236}">
                <a16:creationId xmlns:a16="http://schemas.microsoft.com/office/drawing/2014/main" id="{E08ABF7F-5EA6-7E1B-4002-3DC7B8BA0108}"/>
              </a:ext>
            </a:extLst>
          </p:cNvPr>
          <p:cNvSpPr/>
          <p:nvPr/>
        </p:nvSpPr>
        <p:spPr>
          <a:xfrm>
            <a:off x="2334510" y="1106000"/>
            <a:ext cx="7704000" cy="32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: 圓角 19">
            <a:extLst>
              <a:ext uri="{FF2B5EF4-FFF2-40B4-BE49-F238E27FC236}">
                <a16:creationId xmlns:a16="http://schemas.microsoft.com/office/drawing/2014/main" id="{F6122ED2-15F3-B570-020B-3CFB18A372A2}"/>
              </a:ext>
            </a:extLst>
          </p:cNvPr>
          <p:cNvSpPr/>
          <p:nvPr/>
        </p:nvSpPr>
        <p:spPr>
          <a:xfrm>
            <a:off x="2334511" y="3109135"/>
            <a:ext cx="6048000" cy="3240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: 圓角 20">
            <a:extLst>
              <a:ext uri="{FF2B5EF4-FFF2-40B4-BE49-F238E27FC236}">
                <a16:creationId xmlns:a16="http://schemas.microsoft.com/office/drawing/2014/main" id="{641D65A5-E701-660A-FC62-19136F51D3D9}"/>
              </a:ext>
            </a:extLst>
          </p:cNvPr>
          <p:cNvSpPr/>
          <p:nvPr/>
        </p:nvSpPr>
        <p:spPr>
          <a:xfrm>
            <a:off x="2334510" y="2785945"/>
            <a:ext cx="6912000" cy="32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: 圓角 21">
            <a:extLst>
              <a:ext uri="{FF2B5EF4-FFF2-40B4-BE49-F238E27FC236}">
                <a16:creationId xmlns:a16="http://schemas.microsoft.com/office/drawing/2014/main" id="{C4BC8CF2-B0B0-8FBA-BB1B-B7C8AB9A8F37}"/>
              </a:ext>
            </a:extLst>
          </p:cNvPr>
          <p:cNvSpPr/>
          <p:nvPr/>
        </p:nvSpPr>
        <p:spPr>
          <a:xfrm>
            <a:off x="2334510" y="4864504"/>
            <a:ext cx="6552000" cy="324000"/>
          </a:xfrm>
          <a:prstGeom prst="roundRect">
            <a:avLst/>
          </a:prstGeom>
          <a:solidFill>
            <a:srgbClr val="E2F0D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矩形: 圓角 22">
            <a:extLst>
              <a:ext uri="{FF2B5EF4-FFF2-40B4-BE49-F238E27FC236}">
                <a16:creationId xmlns:a16="http://schemas.microsoft.com/office/drawing/2014/main" id="{C088363F-B71E-8A3E-36E6-03DCC25FF7E4}"/>
              </a:ext>
            </a:extLst>
          </p:cNvPr>
          <p:cNvSpPr/>
          <p:nvPr/>
        </p:nvSpPr>
        <p:spPr>
          <a:xfrm>
            <a:off x="2334510" y="4541314"/>
            <a:ext cx="7200000" cy="3240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>
            <a:extLst>
              <a:ext uri="{FF2B5EF4-FFF2-40B4-BE49-F238E27FC236}">
                <a16:creationId xmlns:a16="http://schemas.microsoft.com/office/drawing/2014/main" id="{5184D822-D7F6-FFC0-8AF5-3915352531BE}"/>
              </a:ext>
            </a:extLst>
          </p:cNvPr>
          <p:cNvCxnSpPr>
            <a:cxnSpLocks/>
          </p:cNvCxnSpPr>
          <p:nvPr/>
        </p:nvCxnSpPr>
        <p:spPr>
          <a:xfrm>
            <a:off x="10514657" y="531628"/>
            <a:ext cx="0" cy="6326372"/>
          </a:xfrm>
          <a:prstGeom prst="line">
            <a:avLst/>
          </a:prstGeom>
          <a:ln w="28575">
            <a:solidFill>
              <a:srgbClr val="C42A04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90918A83-DED8-4F05-4884-8C7F4F8F0D76}"/>
              </a:ext>
            </a:extLst>
          </p:cNvPr>
          <p:cNvSpPr txBox="1"/>
          <p:nvPr/>
        </p:nvSpPr>
        <p:spPr>
          <a:xfrm>
            <a:off x="10159431" y="85061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solidFill>
                  <a:srgbClr val="C42A04"/>
                </a:solidFill>
              </a:rPr>
              <a:t>1.000</a:t>
            </a:r>
            <a:endParaRPr lang="zh-TW" altLang="en-US" dirty="0">
              <a:solidFill>
                <a:srgbClr val="C42A04"/>
              </a:solidFill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3E0DCAF5-AA5B-51D6-5AE4-8273DEB6701C}"/>
              </a:ext>
            </a:extLst>
          </p:cNvPr>
          <p:cNvSpPr txBox="1"/>
          <p:nvPr/>
        </p:nvSpPr>
        <p:spPr>
          <a:xfrm>
            <a:off x="9710651" y="73666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0.933</a:t>
            </a:r>
            <a:endParaRPr lang="zh-TW" altLang="en-US" b="1" dirty="0"/>
          </a:p>
        </p:txBody>
      </p: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D4244595-EFCE-AA07-FC56-86E7D160D090}"/>
              </a:ext>
            </a:extLst>
          </p:cNvPr>
          <p:cNvSpPr txBox="1"/>
          <p:nvPr/>
        </p:nvSpPr>
        <p:spPr>
          <a:xfrm>
            <a:off x="8972834" y="1406524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0.837</a:t>
            </a:r>
            <a:endParaRPr lang="zh-TW" altLang="en-US" b="1" dirty="0"/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05F57E78-2FDE-66FF-8565-AD19765F5506}"/>
              </a:ext>
            </a:extLst>
          </p:cNvPr>
          <p:cNvSpPr txBox="1"/>
          <p:nvPr/>
        </p:nvSpPr>
        <p:spPr>
          <a:xfrm>
            <a:off x="9232508" y="2774893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0.888</a:t>
            </a:r>
            <a:endParaRPr lang="zh-TW" altLang="en-US" b="1" dirty="0"/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F69F392E-C041-CDFD-141D-EF258C9FAF80}"/>
              </a:ext>
            </a:extLst>
          </p:cNvPr>
          <p:cNvSpPr txBox="1"/>
          <p:nvPr/>
        </p:nvSpPr>
        <p:spPr>
          <a:xfrm>
            <a:off x="8368499" y="3086469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0.756</a:t>
            </a:r>
            <a:endParaRPr lang="zh-TW" altLang="en-US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0F3AA20-45C6-E9C3-3A2B-722CAC93409F}"/>
              </a:ext>
            </a:extLst>
          </p:cNvPr>
          <p:cNvSpPr txBox="1"/>
          <p:nvPr/>
        </p:nvSpPr>
        <p:spPr>
          <a:xfrm>
            <a:off x="9557695" y="4512595"/>
            <a:ext cx="766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0.907 </a:t>
            </a:r>
            <a:endParaRPr lang="zh-TW" altLang="en-US" b="1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ABE36592-9B95-A997-CDF9-408808E66E5A}"/>
              </a:ext>
            </a:extLst>
          </p:cNvPr>
          <p:cNvSpPr txBox="1"/>
          <p:nvPr/>
        </p:nvSpPr>
        <p:spPr>
          <a:xfrm>
            <a:off x="8866877" y="484183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0.828</a:t>
            </a:r>
            <a:endParaRPr lang="zh-TW" altLang="en-US" b="1" dirty="0"/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3A20C3D7-8F97-6B93-E661-A1C9A9B30316}"/>
              </a:ext>
            </a:extLst>
          </p:cNvPr>
          <p:cNvSpPr txBox="1"/>
          <p:nvPr/>
        </p:nvSpPr>
        <p:spPr>
          <a:xfrm>
            <a:off x="2578933" y="1061663"/>
            <a:ext cx="108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Accuracy </a:t>
            </a:r>
            <a:endParaRPr lang="zh-TW" altLang="en-US" b="1" dirty="0"/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65F74675-A677-B10B-BFD7-19566044C47C}"/>
              </a:ext>
            </a:extLst>
          </p:cNvPr>
          <p:cNvSpPr txBox="1"/>
          <p:nvPr/>
        </p:nvSpPr>
        <p:spPr>
          <a:xfrm>
            <a:off x="2578933" y="1405929"/>
            <a:ext cx="87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AUROC</a:t>
            </a:r>
            <a:endParaRPr lang="zh-TW" altLang="en-US" b="1" dirty="0"/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4C3BADED-2567-037F-10B2-414A82376E95}"/>
              </a:ext>
            </a:extLst>
          </p:cNvPr>
          <p:cNvSpPr txBox="1"/>
          <p:nvPr/>
        </p:nvSpPr>
        <p:spPr>
          <a:xfrm>
            <a:off x="2578933" y="2755233"/>
            <a:ext cx="108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Accuracy </a:t>
            </a:r>
            <a:endParaRPr lang="zh-TW" altLang="en-US" b="1" dirty="0"/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FA8394E2-F5A8-B838-9919-5E45462E4CB9}"/>
              </a:ext>
            </a:extLst>
          </p:cNvPr>
          <p:cNvSpPr txBox="1"/>
          <p:nvPr/>
        </p:nvSpPr>
        <p:spPr>
          <a:xfrm>
            <a:off x="2578933" y="3099499"/>
            <a:ext cx="87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AUROC</a:t>
            </a:r>
            <a:endParaRPr lang="zh-TW" altLang="en-US" b="1" dirty="0"/>
          </a:p>
        </p:txBody>
      </p:sp>
      <p:sp>
        <p:nvSpPr>
          <p:cNvPr id="38" name="文字方塊 37">
            <a:extLst>
              <a:ext uri="{FF2B5EF4-FFF2-40B4-BE49-F238E27FC236}">
                <a16:creationId xmlns:a16="http://schemas.microsoft.com/office/drawing/2014/main" id="{3DAB6DF1-A924-D922-B8EA-1B3E2D1D2170}"/>
              </a:ext>
            </a:extLst>
          </p:cNvPr>
          <p:cNvSpPr txBox="1"/>
          <p:nvPr/>
        </p:nvSpPr>
        <p:spPr>
          <a:xfrm>
            <a:off x="2578933" y="4512595"/>
            <a:ext cx="1088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Accuracy </a:t>
            </a:r>
            <a:endParaRPr lang="zh-TW" altLang="en-US" b="1" dirty="0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7464F950-0DF9-8BBA-B1FE-61800B729B4C}"/>
              </a:ext>
            </a:extLst>
          </p:cNvPr>
          <p:cNvSpPr txBox="1"/>
          <p:nvPr/>
        </p:nvSpPr>
        <p:spPr>
          <a:xfrm>
            <a:off x="2578933" y="4856861"/>
            <a:ext cx="8757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/>
              <a:t>AUROC</a:t>
            </a:r>
            <a:endParaRPr lang="zh-TW" altLang="en-US" b="1" dirty="0"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C663108-1839-319D-9175-3A475D05CD40}"/>
              </a:ext>
            </a:extLst>
          </p:cNvPr>
          <p:cNvSpPr/>
          <p:nvPr/>
        </p:nvSpPr>
        <p:spPr>
          <a:xfrm>
            <a:off x="2223534" y="0"/>
            <a:ext cx="221954" cy="6858000"/>
          </a:xfrm>
          <a:prstGeom prst="rect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42" name="圖片 41">
            <a:extLst>
              <a:ext uri="{FF2B5EF4-FFF2-40B4-BE49-F238E27FC236}">
                <a16:creationId xmlns:a16="http://schemas.microsoft.com/office/drawing/2014/main" id="{05EF88E7-EC18-6CAA-5562-B018A4DFC80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54217" y="1033190"/>
            <a:ext cx="720000" cy="720000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4B032C82-E142-6C46-03BD-8BA74EC1BF9C}"/>
              </a:ext>
            </a:extLst>
          </p:cNvPr>
          <p:cNvSpPr txBox="1"/>
          <p:nvPr/>
        </p:nvSpPr>
        <p:spPr>
          <a:xfrm>
            <a:off x="4633641" y="356644"/>
            <a:ext cx="26017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err="1">
                <a:latin typeface="+mn-ea"/>
              </a:rPr>
              <a:t>TxGNN</a:t>
            </a:r>
            <a:r>
              <a:rPr lang="zh-TW" altLang="en-US" sz="2000" b="1" dirty="0">
                <a:latin typeface="+mn-ea"/>
              </a:rPr>
              <a:t>模型驗證結果</a:t>
            </a:r>
          </a:p>
        </p:txBody>
      </p:sp>
    </p:spTree>
    <p:extLst>
      <p:ext uri="{BB962C8B-B14F-4D97-AF65-F5344CB8AC3E}">
        <p14:creationId xmlns:p14="http://schemas.microsoft.com/office/powerpoint/2010/main" val="1835958212"/>
      </p:ext>
    </p:extLst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2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9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8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3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4">
            <a:extLst>
              <a:ext uri="{FF2B5EF4-FFF2-40B4-BE49-F238E27FC236}">
                <a16:creationId xmlns:a16="http://schemas.microsoft.com/office/drawing/2014/main" id="{27FF624F-8541-30F5-CB0F-131616AEE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4072" y="833120"/>
            <a:ext cx="6024880" cy="602488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AFD180BB-C34A-659B-FA29-F9BE9C01C2E9}"/>
              </a:ext>
            </a:extLst>
          </p:cNvPr>
          <p:cNvSpPr txBox="1"/>
          <p:nvPr/>
        </p:nvSpPr>
        <p:spPr>
          <a:xfrm>
            <a:off x="3214072" y="371455"/>
            <a:ext cx="6543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b="1" dirty="0">
                <a:latin typeface="+mn-ea"/>
              </a:rPr>
              <a:t>知識圖譜隨機</a:t>
            </a:r>
            <a:r>
              <a:rPr lang="en-US" altLang="zh-TW" sz="2400" b="1" dirty="0">
                <a:latin typeface="+mn-ea"/>
              </a:rPr>
              <a:t>50</a:t>
            </a:r>
            <a:r>
              <a:rPr lang="zh-TW" altLang="en-US" sz="2400" b="1" dirty="0">
                <a:latin typeface="+mn-ea"/>
              </a:rPr>
              <a:t>個節點以及其相關關係圖</a:t>
            </a:r>
          </a:p>
        </p:txBody>
      </p:sp>
    </p:spTree>
    <p:extLst>
      <p:ext uri="{BB962C8B-B14F-4D97-AF65-F5344CB8AC3E}">
        <p14:creationId xmlns:p14="http://schemas.microsoft.com/office/powerpoint/2010/main" val="94418928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xit" presetSubtype="8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2" presetClass="exit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C9CDF99B-9614-6B9D-4AC1-111207DC3C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561" y="629920"/>
            <a:ext cx="5362328" cy="610204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F51EF7C1-6464-AE65-63D6-9517E36BE2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29920"/>
            <a:ext cx="6766305" cy="5831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74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xit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0-ppt_w/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字方塊 20">
            <a:extLst>
              <a:ext uri="{FF2B5EF4-FFF2-40B4-BE49-F238E27FC236}">
                <a16:creationId xmlns:a16="http://schemas.microsoft.com/office/drawing/2014/main" id="{26F749D8-4E82-0BB6-9952-68E6C2A09E94}"/>
              </a:ext>
            </a:extLst>
          </p:cNvPr>
          <p:cNvSpPr txBox="1"/>
          <p:nvPr/>
        </p:nvSpPr>
        <p:spPr>
          <a:xfrm>
            <a:off x="1057135" y="993547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Disease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D8C559F-0B5D-ADA4-F9AE-CC9B617B9D36}"/>
              </a:ext>
            </a:extLst>
          </p:cNvPr>
          <p:cNvSpPr txBox="1"/>
          <p:nvPr/>
        </p:nvSpPr>
        <p:spPr>
          <a:xfrm>
            <a:off x="11142321" y="3877180"/>
            <a:ext cx="9931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 err="1"/>
              <a:t>PrimeKG</a:t>
            </a:r>
            <a:endParaRPr lang="en-US" altLang="zh-TW" dirty="0"/>
          </a:p>
          <a:p>
            <a:pPr algn="ctr"/>
            <a:r>
              <a:rPr lang="en-US" altLang="zh-TW" dirty="0"/>
              <a:t>Dataset</a:t>
            </a:r>
            <a:endParaRPr lang="zh-TW" altLang="en-US" dirty="0"/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27E21543-B4AA-1261-B1F3-CAD43F7031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1847" y="976229"/>
            <a:ext cx="895350" cy="8953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6B873726-9750-F72F-D565-B72610F52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860" y="925822"/>
            <a:ext cx="839478" cy="839478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41BB8FC0-7C83-8AD2-04F4-1B7A0AF22BD9}"/>
              </a:ext>
            </a:extLst>
          </p:cNvPr>
          <p:cNvSpPr txBox="1"/>
          <p:nvPr/>
        </p:nvSpPr>
        <p:spPr>
          <a:xfrm>
            <a:off x="262881" y="500618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User</a:t>
            </a:r>
            <a:endParaRPr lang="zh-TW" altLang="en-US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A5F30D48-4830-57F7-B5E2-CFD53A18C7F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989338" y="1345561"/>
            <a:ext cx="99899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14FF7B12-19B2-EBDE-4ADD-02BF47EB1002}"/>
              </a:ext>
            </a:extLst>
          </p:cNvPr>
          <p:cNvSpPr txBox="1"/>
          <p:nvPr/>
        </p:nvSpPr>
        <p:spPr>
          <a:xfrm>
            <a:off x="1590547" y="230570"/>
            <a:ext cx="19668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dirty="0"/>
              <a:t>Virtual drug</a:t>
            </a:r>
          </a:p>
          <a:p>
            <a:pPr algn="ctr"/>
            <a:r>
              <a:rPr lang="en-US" altLang="zh-TW" dirty="0"/>
              <a:t>Screening platform</a:t>
            </a:r>
            <a:endParaRPr lang="zh-TW" altLang="en-US" dirty="0"/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E17437F8-D79A-6925-5EE3-8DBAE5E3084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670" y="2350156"/>
            <a:ext cx="2476500" cy="1374517"/>
          </a:xfrm>
          <a:prstGeom prst="rect">
            <a:avLst/>
          </a:prstGeom>
        </p:spPr>
      </p:pic>
      <p:sp>
        <p:nvSpPr>
          <p:cNvPr id="31" name="文字方塊 30">
            <a:extLst>
              <a:ext uri="{FF2B5EF4-FFF2-40B4-BE49-F238E27FC236}">
                <a16:creationId xmlns:a16="http://schemas.microsoft.com/office/drawing/2014/main" id="{7D2FF02F-7C9E-47FD-2BC6-DAE6DB74A4BE}"/>
              </a:ext>
            </a:extLst>
          </p:cNvPr>
          <p:cNvSpPr txBox="1"/>
          <p:nvPr/>
        </p:nvSpPr>
        <p:spPr>
          <a:xfrm>
            <a:off x="5008880" y="3797289"/>
            <a:ext cx="16480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Neo4j database</a:t>
            </a:r>
            <a:endParaRPr lang="zh-TW" altLang="en-US" dirty="0"/>
          </a:p>
        </p:txBody>
      </p:sp>
      <p:cxnSp>
        <p:nvCxnSpPr>
          <p:cNvPr id="47" name="接點: 肘形 46">
            <a:extLst>
              <a:ext uri="{FF2B5EF4-FFF2-40B4-BE49-F238E27FC236}">
                <a16:creationId xmlns:a16="http://schemas.microsoft.com/office/drawing/2014/main" id="{48EE9378-D220-E011-FDA0-F475DD7EAFD9}"/>
              </a:ext>
            </a:extLst>
          </p:cNvPr>
          <p:cNvCxnSpPr>
            <a:stCxn id="13" idx="3"/>
            <a:endCxn id="30" idx="0"/>
          </p:cNvCxnSpPr>
          <p:nvPr/>
        </p:nvCxnSpPr>
        <p:spPr>
          <a:xfrm>
            <a:off x="2987197" y="1423904"/>
            <a:ext cx="2845723" cy="92625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字方塊 47">
            <a:extLst>
              <a:ext uri="{FF2B5EF4-FFF2-40B4-BE49-F238E27FC236}">
                <a16:creationId xmlns:a16="http://schemas.microsoft.com/office/drawing/2014/main" id="{DDFCCFB3-4849-F9DA-27CD-1D28AAF969FE}"/>
              </a:ext>
            </a:extLst>
          </p:cNvPr>
          <p:cNvSpPr txBox="1"/>
          <p:nvPr/>
        </p:nvSpPr>
        <p:spPr>
          <a:xfrm>
            <a:off x="3033871" y="1084785"/>
            <a:ext cx="2981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Searching common disease ID</a:t>
            </a:r>
            <a:endParaRPr lang="zh-TW" altLang="en-US" dirty="0"/>
          </a:p>
        </p:txBody>
      </p:sp>
      <p:cxnSp>
        <p:nvCxnSpPr>
          <p:cNvPr id="52" name="直線單箭頭接點 51">
            <a:extLst>
              <a:ext uri="{FF2B5EF4-FFF2-40B4-BE49-F238E27FC236}">
                <a16:creationId xmlns:a16="http://schemas.microsoft.com/office/drawing/2014/main" id="{C2535D8D-1490-4654-D2DF-271E490E756F}"/>
              </a:ext>
            </a:extLst>
          </p:cNvPr>
          <p:cNvCxnSpPr>
            <a:stCxn id="31" idx="2"/>
          </p:cNvCxnSpPr>
          <p:nvPr/>
        </p:nvCxnSpPr>
        <p:spPr>
          <a:xfrm>
            <a:off x="5832920" y="4166621"/>
            <a:ext cx="0" cy="7442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2F65C881-F5F9-E5B0-694D-9BE477EDDE94}"/>
              </a:ext>
            </a:extLst>
          </p:cNvPr>
          <p:cNvSpPr txBox="1"/>
          <p:nvPr/>
        </p:nvSpPr>
        <p:spPr>
          <a:xfrm>
            <a:off x="5283010" y="4334380"/>
            <a:ext cx="1270000" cy="36933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zh-TW" dirty="0"/>
              <a:t>Disease ID</a:t>
            </a:r>
            <a:endParaRPr lang="zh-TW" altLang="en-US" dirty="0"/>
          </a:p>
        </p:txBody>
      </p:sp>
      <p:sp>
        <p:nvSpPr>
          <p:cNvPr id="62" name="矩形: 圓角 61">
            <a:extLst>
              <a:ext uri="{FF2B5EF4-FFF2-40B4-BE49-F238E27FC236}">
                <a16:creationId xmlns:a16="http://schemas.microsoft.com/office/drawing/2014/main" id="{AE5F350C-68BD-3199-972D-F06A3E7AE9E4}"/>
              </a:ext>
            </a:extLst>
          </p:cNvPr>
          <p:cNvSpPr/>
          <p:nvPr/>
        </p:nvSpPr>
        <p:spPr>
          <a:xfrm>
            <a:off x="7707640" y="1362879"/>
            <a:ext cx="3204200" cy="229308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3" name="文字方塊 62">
            <a:extLst>
              <a:ext uri="{FF2B5EF4-FFF2-40B4-BE49-F238E27FC236}">
                <a16:creationId xmlns:a16="http://schemas.microsoft.com/office/drawing/2014/main" id="{55E3B7CE-9B09-BCC6-B38C-DCCB25C06FA8}"/>
              </a:ext>
            </a:extLst>
          </p:cNvPr>
          <p:cNvSpPr txBox="1"/>
          <p:nvPr/>
        </p:nvSpPr>
        <p:spPr>
          <a:xfrm>
            <a:off x="7844703" y="1481253"/>
            <a:ext cx="2981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Build Neo4j database</a:t>
            </a:r>
            <a:r>
              <a:rPr lang="zh-TW" altLang="en-US" dirty="0"/>
              <a:t> </a:t>
            </a:r>
            <a:r>
              <a:rPr lang="en-US" altLang="zh-TW" dirty="0"/>
              <a:t>pipeline</a:t>
            </a:r>
            <a:endParaRPr lang="zh-TW" altLang="en-US" dirty="0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C735B21-D4CC-272D-6123-30F6EA4367C6}"/>
              </a:ext>
            </a:extLst>
          </p:cNvPr>
          <p:cNvSpPr/>
          <p:nvPr/>
        </p:nvSpPr>
        <p:spPr>
          <a:xfrm>
            <a:off x="8182845" y="1877372"/>
            <a:ext cx="2276333" cy="419099"/>
          </a:xfrm>
          <a:prstGeom prst="rect">
            <a:avLst/>
          </a:prstGeom>
          <a:solidFill>
            <a:srgbClr val="FFFFCC"/>
          </a:solidFill>
          <a:ln w="19050">
            <a:solidFill>
              <a:srgbClr val="4472C4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Connect Neo4j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5" name="矩形 64">
            <a:extLst>
              <a:ext uri="{FF2B5EF4-FFF2-40B4-BE49-F238E27FC236}">
                <a16:creationId xmlns:a16="http://schemas.microsoft.com/office/drawing/2014/main" id="{8CE240E7-5ACF-CCBD-9CA3-02B80A3F8B10}"/>
              </a:ext>
            </a:extLst>
          </p:cNvPr>
          <p:cNvSpPr/>
          <p:nvPr/>
        </p:nvSpPr>
        <p:spPr>
          <a:xfrm>
            <a:off x="8177372" y="2467640"/>
            <a:ext cx="2287279" cy="419099"/>
          </a:xfrm>
          <a:prstGeom prst="rect">
            <a:avLst/>
          </a:prstGeom>
          <a:solidFill>
            <a:srgbClr val="FFFFCC"/>
          </a:solidFill>
          <a:ln w="19050">
            <a:solidFill>
              <a:srgbClr val="4472C4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Extract Node/Relation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EBD470C7-B630-7557-92B6-968C4BF0339E}"/>
              </a:ext>
            </a:extLst>
          </p:cNvPr>
          <p:cNvSpPr/>
          <p:nvPr/>
        </p:nvSpPr>
        <p:spPr>
          <a:xfrm>
            <a:off x="8177372" y="3057908"/>
            <a:ext cx="2287278" cy="419099"/>
          </a:xfrm>
          <a:prstGeom prst="rect">
            <a:avLst/>
          </a:prstGeom>
          <a:solidFill>
            <a:srgbClr val="FFFFCC"/>
          </a:solidFill>
          <a:ln w="19050">
            <a:solidFill>
              <a:srgbClr val="4472C4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Create cypher query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F24F99B5-7F3B-D3C7-2B56-1D0EA2131F34}"/>
              </a:ext>
            </a:extLst>
          </p:cNvPr>
          <p:cNvSpPr/>
          <p:nvPr/>
        </p:nvSpPr>
        <p:spPr>
          <a:xfrm>
            <a:off x="7707638" y="4088478"/>
            <a:ext cx="3204200" cy="2293084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68" name="文字方塊 67">
            <a:extLst>
              <a:ext uri="{FF2B5EF4-FFF2-40B4-BE49-F238E27FC236}">
                <a16:creationId xmlns:a16="http://schemas.microsoft.com/office/drawing/2014/main" id="{626B6074-2C5B-FB6E-74B9-FC585FBC280C}"/>
              </a:ext>
            </a:extLst>
          </p:cNvPr>
          <p:cNvSpPr txBox="1"/>
          <p:nvPr/>
        </p:nvSpPr>
        <p:spPr>
          <a:xfrm>
            <a:off x="7909769" y="4198855"/>
            <a:ext cx="27999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Train </a:t>
            </a:r>
            <a:r>
              <a:rPr lang="en-US" altLang="zh-TW" dirty="0" err="1"/>
              <a:t>TxGNN</a:t>
            </a:r>
            <a:r>
              <a:rPr lang="en-US" altLang="zh-TW" dirty="0"/>
              <a:t> model pipeline</a:t>
            </a:r>
            <a:endParaRPr lang="zh-TW" altLang="en-US" dirty="0"/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1E73C305-9CBA-D384-942E-3558C1C16E47}"/>
              </a:ext>
            </a:extLst>
          </p:cNvPr>
          <p:cNvSpPr/>
          <p:nvPr/>
        </p:nvSpPr>
        <p:spPr>
          <a:xfrm>
            <a:off x="8157914" y="4602971"/>
            <a:ext cx="2276333" cy="419099"/>
          </a:xfrm>
          <a:prstGeom prst="rect">
            <a:avLst/>
          </a:prstGeom>
          <a:solidFill>
            <a:srgbClr val="FFFFCC"/>
          </a:solidFill>
          <a:ln w="19050">
            <a:solidFill>
              <a:srgbClr val="4472C4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Model initialize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3AAE2BD0-0CBB-71DD-00E7-9BD75C112DE8}"/>
              </a:ext>
            </a:extLst>
          </p:cNvPr>
          <p:cNvSpPr/>
          <p:nvPr/>
        </p:nvSpPr>
        <p:spPr>
          <a:xfrm>
            <a:off x="8152441" y="5193239"/>
            <a:ext cx="2287279" cy="419099"/>
          </a:xfrm>
          <a:prstGeom prst="rect">
            <a:avLst/>
          </a:prstGeom>
          <a:solidFill>
            <a:srgbClr val="FFFFCC"/>
          </a:solidFill>
          <a:ln w="19050">
            <a:solidFill>
              <a:srgbClr val="4472C4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</a:rPr>
              <a:t>TxGNN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pretrain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8DCE4CC-139A-8934-93A6-25F5281569FA}"/>
              </a:ext>
            </a:extLst>
          </p:cNvPr>
          <p:cNvSpPr/>
          <p:nvPr/>
        </p:nvSpPr>
        <p:spPr>
          <a:xfrm>
            <a:off x="8152441" y="5783507"/>
            <a:ext cx="2287278" cy="419099"/>
          </a:xfrm>
          <a:prstGeom prst="rect">
            <a:avLst/>
          </a:prstGeom>
          <a:solidFill>
            <a:srgbClr val="FFFFCC"/>
          </a:solidFill>
          <a:ln w="19050">
            <a:solidFill>
              <a:srgbClr val="4472C4">
                <a:alpha val="6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err="1">
                <a:solidFill>
                  <a:schemeClr val="accent1">
                    <a:lumMod val="75000"/>
                  </a:schemeClr>
                </a:solidFill>
              </a:rPr>
              <a:t>TxGNN</a:t>
            </a:r>
            <a:r>
              <a:rPr lang="zh-TW" altLang="en-US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altLang="zh-TW" dirty="0">
                <a:solidFill>
                  <a:schemeClr val="accent1">
                    <a:lumMod val="75000"/>
                  </a:schemeClr>
                </a:solidFill>
              </a:rPr>
              <a:t>finetune</a:t>
            </a:r>
            <a:endParaRPr lang="zh-TW" alt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graphicFrame>
        <p:nvGraphicFramePr>
          <p:cNvPr id="75" name="表格 74">
            <a:extLst>
              <a:ext uri="{FF2B5EF4-FFF2-40B4-BE49-F238E27FC236}">
                <a16:creationId xmlns:a16="http://schemas.microsoft.com/office/drawing/2014/main" id="{0652DA21-1AF3-0093-2C28-A04DAFAD6046}"/>
              </a:ext>
            </a:extLst>
          </p:cNvPr>
          <p:cNvGraphicFramePr>
            <a:graphicFrameLocks noGrp="1"/>
          </p:cNvGraphicFramePr>
          <p:nvPr/>
        </p:nvGraphicFramePr>
        <p:xfrm>
          <a:off x="577887" y="5656718"/>
          <a:ext cx="2592521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2521">
                  <a:extLst>
                    <a:ext uri="{9D8B030D-6E8A-4147-A177-3AD203B41FA5}">
                      <a16:colId xmlns:a16="http://schemas.microsoft.com/office/drawing/2014/main" val="383646127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b="0" dirty="0">
                          <a:solidFill>
                            <a:sysClr val="windowText" lastClr="000000"/>
                          </a:solidFill>
                        </a:rPr>
                        <a:t>Related diseases</a:t>
                      </a:r>
                      <a:endParaRPr lang="zh-TW" altLang="en-US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88227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Accuracy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37356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Related drug ranked lists</a:t>
                      </a:r>
                      <a:endParaRPr lang="zh-TW" alt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6658839"/>
                  </a:ext>
                </a:extLst>
              </a:tr>
            </a:tbl>
          </a:graphicData>
        </a:graphic>
      </p:graphicFrame>
      <p:pic>
        <p:nvPicPr>
          <p:cNvPr id="77" name="圖片 76">
            <a:extLst>
              <a:ext uri="{FF2B5EF4-FFF2-40B4-BE49-F238E27FC236}">
                <a16:creationId xmlns:a16="http://schemas.microsoft.com/office/drawing/2014/main" id="{DCF8C8C1-13D5-D9C2-AF60-3AA23B8D2B1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292" y="2350156"/>
            <a:ext cx="3138075" cy="2353556"/>
          </a:xfrm>
          <a:prstGeom prst="rect">
            <a:avLst/>
          </a:prstGeom>
        </p:spPr>
      </p:pic>
      <p:sp>
        <p:nvSpPr>
          <p:cNvPr id="78" name="文字方塊 77">
            <a:extLst>
              <a:ext uri="{FF2B5EF4-FFF2-40B4-BE49-F238E27FC236}">
                <a16:creationId xmlns:a16="http://schemas.microsoft.com/office/drawing/2014/main" id="{F9F10B77-2AC1-DC0F-962E-775A9E88294B}"/>
              </a:ext>
            </a:extLst>
          </p:cNvPr>
          <p:cNvSpPr txBox="1"/>
          <p:nvPr/>
        </p:nvSpPr>
        <p:spPr>
          <a:xfrm>
            <a:off x="217786" y="4694043"/>
            <a:ext cx="3773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dirty="0"/>
              <a:t>Use </a:t>
            </a:r>
            <a:r>
              <a:rPr lang="en-US" altLang="zh-TW" dirty="0" err="1"/>
              <a:t>pycharts</a:t>
            </a:r>
            <a:r>
              <a:rPr lang="en-US" altLang="zh-TW" dirty="0"/>
              <a:t> package </a:t>
            </a:r>
          </a:p>
          <a:p>
            <a:pPr algn="ctr"/>
            <a:r>
              <a:rPr lang="en-US" altLang="zh-TW" dirty="0"/>
              <a:t>show visualization</a:t>
            </a:r>
          </a:p>
        </p:txBody>
      </p:sp>
      <p:cxnSp>
        <p:nvCxnSpPr>
          <p:cNvPr id="81" name="直線單箭頭接點 80">
            <a:extLst>
              <a:ext uri="{FF2B5EF4-FFF2-40B4-BE49-F238E27FC236}">
                <a16:creationId xmlns:a16="http://schemas.microsoft.com/office/drawing/2014/main" id="{EEF28FC1-FD1F-A22D-33F6-33E88029DABB}"/>
              </a:ext>
            </a:extLst>
          </p:cNvPr>
          <p:cNvCxnSpPr>
            <a:cxnSpLocks/>
            <a:endCxn id="75" idx="3"/>
          </p:cNvCxnSpPr>
          <p:nvPr/>
        </p:nvCxnSpPr>
        <p:spPr>
          <a:xfrm flipH="1">
            <a:off x="3170408" y="6212978"/>
            <a:ext cx="104145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單箭頭接點 82">
            <a:extLst>
              <a:ext uri="{FF2B5EF4-FFF2-40B4-BE49-F238E27FC236}">
                <a16:creationId xmlns:a16="http://schemas.microsoft.com/office/drawing/2014/main" id="{FDC6103A-4B3C-B106-BAC3-C3BEF7E94EDB}"/>
              </a:ext>
            </a:extLst>
          </p:cNvPr>
          <p:cNvCxnSpPr>
            <a:endCxn id="78" idx="2"/>
          </p:cNvCxnSpPr>
          <p:nvPr/>
        </p:nvCxnSpPr>
        <p:spPr>
          <a:xfrm flipV="1">
            <a:off x="2104366" y="5340374"/>
            <a:ext cx="1" cy="2719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單箭頭接點 88">
            <a:extLst>
              <a:ext uri="{FF2B5EF4-FFF2-40B4-BE49-F238E27FC236}">
                <a16:creationId xmlns:a16="http://schemas.microsoft.com/office/drawing/2014/main" id="{388F90A6-DAEE-19D9-5533-B8C5962BE10B}"/>
              </a:ext>
            </a:extLst>
          </p:cNvPr>
          <p:cNvCxnSpPr>
            <a:endCxn id="13" idx="2"/>
          </p:cNvCxnSpPr>
          <p:nvPr/>
        </p:nvCxnSpPr>
        <p:spPr>
          <a:xfrm flipV="1">
            <a:off x="2539522" y="1871579"/>
            <a:ext cx="0" cy="42489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單箭頭接點 90">
            <a:extLst>
              <a:ext uri="{FF2B5EF4-FFF2-40B4-BE49-F238E27FC236}">
                <a16:creationId xmlns:a16="http://schemas.microsoft.com/office/drawing/2014/main" id="{279330E0-AA78-2384-A725-931336D04CFF}"/>
              </a:ext>
            </a:extLst>
          </p:cNvPr>
          <p:cNvCxnSpPr>
            <a:cxnSpLocks/>
          </p:cNvCxnSpPr>
          <p:nvPr/>
        </p:nvCxnSpPr>
        <p:spPr>
          <a:xfrm flipH="1">
            <a:off x="7390844" y="5773347"/>
            <a:ext cx="31679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單箭頭接點 94">
            <a:extLst>
              <a:ext uri="{FF2B5EF4-FFF2-40B4-BE49-F238E27FC236}">
                <a16:creationId xmlns:a16="http://schemas.microsoft.com/office/drawing/2014/main" id="{FD56C4AF-E548-2EE4-B48C-611138F517F5}"/>
              </a:ext>
            </a:extLst>
          </p:cNvPr>
          <p:cNvCxnSpPr>
            <a:cxnSpLocks/>
          </p:cNvCxnSpPr>
          <p:nvPr/>
        </p:nvCxnSpPr>
        <p:spPr>
          <a:xfrm flipH="1">
            <a:off x="7228850" y="2888038"/>
            <a:ext cx="47878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接點: 肘形 96">
            <a:extLst>
              <a:ext uri="{FF2B5EF4-FFF2-40B4-BE49-F238E27FC236}">
                <a16:creationId xmlns:a16="http://schemas.microsoft.com/office/drawing/2014/main" id="{F1F320C2-9A35-F8A5-4DBE-8617D206C40D}"/>
              </a:ext>
            </a:extLst>
          </p:cNvPr>
          <p:cNvCxnSpPr>
            <a:cxnSpLocks/>
            <a:endCxn id="62" idx="3"/>
          </p:cNvCxnSpPr>
          <p:nvPr/>
        </p:nvCxnSpPr>
        <p:spPr>
          <a:xfrm rot="16200000" flipV="1">
            <a:off x="10321298" y="3099963"/>
            <a:ext cx="1472534" cy="29144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接點: 肘形 98">
            <a:extLst>
              <a:ext uri="{FF2B5EF4-FFF2-40B4-BE49-F238E27FC236}">
                <a16:creationId xmlns:a16="http://schemas.microsoft.com/office/drawing/2014/main" id="{2C31F77A-6C4F-3656-1F93-0E0222CFB0A2}"/>
              </a:ext>
            </a:extLst>
          </p:cNvPr>
          <p:cNvCxnSpPr>
            <a:cxnSpLocks/>
            <a:endCxn id="67" idx="3"/>
          </p:cNvCxnSpPr>
          <p:nvPr/>
        </p:nvCxnSpPr>
        <p:spPr>
          <a:xfrm rot="5400000">
            <a:off x="10431028" y="4462764"/>
            <a:ext cx="1253066" cy="29144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1" name="圖片 100">
            <a:extLst>
              <a:ext uri="{FF2B5EF4-FFF2-40B4-BE49-F238E27FC236}">
                <a16:creationId xmlns:a16="http://schemas.microsoft.com/office/drawing/2014/main" id="{317E47BF-3ECF-343F-AF4C-41FE90843E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10064" y="3150958"/>
            <a:ext cx="669414" cy="669414"/>
          </a:xfrm>
          <a:prstGeom prst="rect">
            <a:avLst/>
          </a:prstGeom>
        </p:spPr>
      </p:pic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D0C59EC7-2097-E726-5A31-6C6A841554D7}"/>
              </a:ext>
            </a:extLst>
          </p:cNvPr>
          <p:cNvSpPr/>
          <p:nvPr/>
        </p:nvSpPr>
        <p:spPr>
          <a:xfrm>
            <a:off x="4211859" y="5022070"/>
            <a:ext cx="3154052" cy="1642677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2248EE00-981E-A1A0-D94B-C53DF22583F2}"/>
              </a:ext>
            </a:extLst>
          </p:cNvPr>
          <p:cNvSpPr txBox="1"/>
          <p:nvPr/>
        </p:nvSpPr>
        <p:spPr>
          <a:xfrm>
            <a:off x="4864519" y="5603819"/>
            <a:ext cx="2526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TxGNN</a:t>
            </a:r>
            <a:r>
              <a:rPr lang="en-US" altLang="zh-TW" sz="2400" dirty="0"/>
              <a:t> model</a:t>
            </a:r>
            <a:endParaRPr lang="zh-TW" altLang="en-US" sz="2400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B810029-E17B-47B1-A8A4-B6FFB85FA42D}"/>
              </a:ext>
            </a:extLst>
          </p:cNvPr>
          <p:cNvSpPr txBox="1"/>
          <p:nvPr/>
        </p:nvSpPr>
        <p:spPr>
          <a:xfrm>
            <a:off x="8057584" y="208229"/>
            <a:ext cx="258538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4000" dirty="0"/>
              <a:t>How to do?</a:t>
            </a:r>
            <a:endParaRPr lang="zh-TW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348437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31" grpId="0"/>
      <p:bldP spid="48" grpId="0"/>
      <p:bldP spid="54" grpId="0" animBg="1"/>
      <p:bldP spid="62" grpId="0" animBg="1"/>
      <p:bldP spid="63" grpId="0"/>
      <p:bldP spid="64" grpId="0" animBg="1"/>
      <p:bldP spid="65" grpId="0" animBg="1"/>
      <p:bldP spid="66" grpId="0" animBg="1"/>
      <p:bldP spid="67" grpId="0" animBg="1"/>
      <p:bldP spid="68" grpId="0"/>
      <p:bldP spid="69" grpId="0" animBg="1"/>
      <p:bldP spid="70" grpId="0" animBg="1"/>
      <p:bldP spid="71" grpId="0" animBg="1"/>
      <p:bldP spid="78" grpId="0"/>
      <p:bldP spid="102" grpId="0" animBg="1"/>
      <p:bldP spid="10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7879B8-6151-3CF9-61E1-678259390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58D740B-C69B-F487-EDAD-760628398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21802" y="2988951"/>
            <a:ext cx="4033841" cy="3322598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80C5C5DC-18ED-CB19-90FE-6DD0D8E016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299" y="1881854"/>
            <a:ext cx="895350" cy="89535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5C54D91D-C2DE-C376-E4A2-CD812601A5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860" y="350088"/>
            <a:ext cx="750910" cy="750910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20DD0328-0B09-170F-DD4E-923AD7A8D206}"/>
              </a:ext>
            </a:extLst>
          </p:cNvPr>
          <p:cNvSpPr txBox="1"/>
          <p:nvPr/>
        </p:nvSpPr>
        <p:spPr>
          <a:xfrm>
            <a:off x="1674668" y="21331"/>
            <a:ext cx="6174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User</a:t>
            </a:r>
            <a:endParaRPr lang="zh-TW" altLang="en-US" dirty="0"/>
          </a:p>
        </p:txBody>
      </p:sp>
      <p:sp>
        <p:nvSpPr>
          <p:cNvPr id="102" name="矩形: 圓角 101">
            <a:extLst>
              <a:ext uri="{FF2B5EF4-FFF2-40B4-BE49-F238E27FC236}">
                <a16:creationId xmlns:a16="http://schemas.microsoft.com/office/drawing/2014/main" id="{B47CCB40-C5A4-3270-1269-5D60826700B6}"/>
              </a:ext>
            </a:extLst>
          </p:cNvPr>
          <p:cNvSpPr/>
          <p:nvPr/>
        </p:nvSpPr>
        <p:spPr>
          <a:xfrm>
            <a:off x="383948" y="5864510"/>
            <a:ext cx="3154052" cy="96167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9" name="文字方塊 108">
            <a:extLst>
              <a:ext uri="{FF2B5EF4-FFF2-40B4-BE49-F238E27FC236}">
                <a16:creationId xmlns:a16="http://schemas.microsoft.com/office/drawing/2014/main" id="{843D0490-7D1F-25CD-34C3-679D6147B798}"/>
              </a:ext>
            </a:extLst>
          </p:cNvPr>
          <p:cNvSpPr txBox="1"/>
          <p:nvPr/>
        </p:nvSpPr>
        <p:spPr>
          <a:xfrm>
            <a:off x="959067" y="6129498"/>
            <a:ext cx="25263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400" dirty="0" err="1"/>
              <a:t>TxGNN</a:t>
            </a:r>
            <a:r>
              <a:rPr lang="en-US" altLang="zh-TW" sz="2400" dirty="0"/>
              <a:t> model</a:t>
            </a:r>
            <a:endParaRPr lang="zh-TW" altLang="en-US" sz="2400" dirty="0"/>
          </a:p>
        </p:txBody>
      </p: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7E122E1-99DF-C6DD-50DB-C24AA30547C5}"/>
              </a:ext>
            </a:extLst>
          </p:cNvPr>
          <p:cNvCxnSpPr>
            <a:cxnSpLocks/>
            <a:stCxn id="16" idx="2"/>
            <a:endCxn id="13" idx="0"/>
          </p:cNvCxnSpPr>
          <p:nvPr/>
        </p:nvCxnSpPr>
        <p:spPr>
          <a:xfrm flipH="1">
            <a:off x="1960974" y="1100998"/>
            <a:ext cx="3341" cy="78085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單箭頭接點 6">
            <a:extLst>
              <a:ext uri="{FF2B5EF4-FFF2-40B4-BE49-F238E27FC236}">
                <a16:creationId xmlns:a16="http://schemas.microsoft.com/office/drawing/2014/main" id="{2C0EB6D2-3E4D-5C6C-EAC9-810BDFCAAB1F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960974" y="2777204"/>
            <a:ext cx="0" cy="8659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單箭頭接點 8">
            <a:extLst>
              <a:ext uri="{FF2B5EF4-FFF2-40B4-BE49-F238E27FC236}">
                <a16:creationId xmlns:a16="http://schemas.microsoft.com/office/drawing/2014/main" id="{2CC7752A-AD5B-8939-195D-92C17111F99E}"/>
              </a:ext>
            </a:extLst>
          </p:cNvPr>
          <p:cNvCxnSpPr>
            <a:cxnSpLocks/>
            <a:endCxn id="102" idx="0"/>
          </p:cNvCxnSpPr>
          <p:nvPr/>
        </p:nvCxnSpPr>
        <p:spPr>
          <a:xfrm>
            <a:off x="1960974" y="4998591"/>
            <a:ext cx="0" cy="86591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>
            <a:extLst>
              <a:ext uri="{FF2B5EF4-FFF2-40B4-BE49-F238E27FC236}">
                <a16:creationId xmlns:a16="http://schemas.microsoft.com/office/drawing/2014/main" id="{58BCE2D4-A8CB-082F-8A42-B2C088EDE43E}"/>
              </a:ext>
            </a:extLst>
          </p:cNvPr>
          <p:cNvSpPr txBox="1"/>
          <p:nvPr/>
        </p:nvSpPr>
        <p:spPr>
          <a:xfrm>
            <a:off x="1193309" y="5263579"/>
            <a:ext cx="1535329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/>
              <a:t>5173</a:t>
            </a:r>
            <a:endParaRPr lang="zh-TW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927A28F5-592F-D427-90AE-07BD00A6E1F9}"/>
              </a:ext>
            </a:extLst>
          </p:cNvPr>
          <p:cNvSpPr txBox="1"/>
          <p:nvPr/>
        </p:nvSpPr>
        <p:spPr>
          <a:xfrm>
            <a:off x="567149" y="1291213"/>
            <a:ext cx="283251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effectLst/>
                <a:ea typeface="標楷體" panose="03000509000000000000" pitchFamily="65" charset="-120"/>
              </a:rPr>
              <a:t>actinic keratosis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1E5A534-7A23-F3C4-DC2A-40A3347AE05A}"/>
              </a:ext>
            </a:extLst>
          </p:cNvPr>
          <p:cNvSpPr txBox="1"/>
          <p:nvPr/>
        </p:nvSpPr>
        <p:spPr>
          <a:xfrm>
            <a:off x="544716" y="2914702"/>
            <a:ext cx="2832514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effectLst/>
                <a:ea typeface="標楷體" panose="03000509000000000000" pitchFamily="65" charset="-120"/>
              </a:rPr>
              <a:t>actinic keratosis</a:t>
            </a:r>
            <a:endParaRPr lang="zh-TW" altLang="en-US" dirty="0"/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850D41ED-D3D9-436A-9047-1098ACFEDF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6901" y="54258"/>
            <a:ext cx="4267707" cy="1629794"/>
          </a:xfrm>
          <a:prstGeom prst="rect">
            <a:avLst/>
          </a:prstGeom>
        </p:spPr>
      </p:pic>
      <p:grpSp>
        <p:nvGrpSpPr>
          <p:cNvPr id="25" name="群組 24">
            <a:extLst>
              <a:ext uri="{FF2B5EF4-FFF2-40B4-BE49-F238E27FC236}">
                <a16:creationId xmlns:a16="http://schemas.microsoft.com/office/drawing/2014/main" id="{7F916274-8AB6-A2AD-4400-9BF682F98843}"/>
              </a:ext>
            </a:extLst>
          </p:cNvPr>
          <p:cNvGrpSpPr/>
          <p:nvPr/>
        </p:nvGrpSpPr>
        <p:grpSpPr>
          <a:xfrm>
            <a:off x="641931" y="3598927"/>
            <a:ext cx="2484728" cy="1580240"/>
            <a:chOff x="6161786" y="4778477"/>
            <a:chExt cx="2736407" cy="1740303"/>
          </a:xfrm>
        </p:grpSpPr>
        <p:pic>
          <p:nvPicPr>
            <p:cNvPr id="23" name="圖片 22">
              <a:extLst>
                <a:ext uri="{FF2B5EF4-FFF2-40B4-BE49-F238E27FC236}">
                  <a16:creationId xmlns:a16="http://schemas.microsoft.com/office/drawing/2014/main" id="{5E48C7A7-DCC4-83B9-0347-3C0846941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00092" y="4945652"/>
              <a:ext cx="2476500" cy="1374517"/>
            </a:xfrm>
            <a:prstGeom prst="rect">
              <a:avLst/>
            </a:prstGeom>
          </p:spPr>
        </p:pic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2701C0E3-AFAA-DF26-FCCD-26953C8E8909}"/>
                </a:ext>
              </a:extLst>
            </p:cNvPr>
            <p:cNvSpPr/>
            <p:nvPr/>
          </p:nvSpPr>
          <p:spPr>
            <a:xfrm>
              <a:off x="6161786" y="4778477"/>
              <a:ext cx="2736407" cy="1740303"/>
            </a:xfrm>
            <a:prstGeom prst="rect">
              <a:avLst/>
            </a:prstGeom>
            <a:solidFill>
              <a:srgbClr val="FFFFFF">
                <a:alpha val="70000"/>
              </a:srgb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73774D21-FA82-8F3B-650E-8D439742C266}"/>
                </a:ext>
              </a:extLst>
            </p:cNvPr>
            <p:cNvSpPr txBox="1"/>
            <p:nvPr/>
          </p:nvSpPr>
          <p:spPr>
            <a:xfrm>
              <a:off x="6624484" y="5483450"/>
              <a:ext cx="181100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dirty="0"/>
                <a:t>Neo4j database</a:t>
              </a:r>
              <a:endParaRPr lang="zh-TW" altLang="en-US" sz="2000" dirty="0"/>
            </a:p>
          </p:txBody>
        </p:sp>
      </p:grpSp>
      <p:cxnSp>
        <p:nvCxnSpPr>
          <p:cNvPr id="29" name="接點: 肘形 28">
            <a:extLst>
              <a:ext uri="{FF2B5EF4-FFF2-40B4-BE49-F238E27FC236}">
                <a16:creationId xmlns:a16="http://schemas.microsoft.com/office/drawing/2014/main" id="{6E6CC46D-18FD-C4C6-AD12-75F9392FD6A2}"/>
              </a:ext>
            </a:extLst>
          </p:cNvPr>
          <p:cNvCxnSpPr>
            <a:cxnSpLocks/>
            <a:stCxn id="102" idx="3"/>
            <a:endCxn id="18" idx="1"/>
          </p:cNvCxnSpPr>
          <p:nvPr/>
        </p:nvCxnSpPr>
        <p:spPr>
          <a:xfrm flipV="1">
            <a:off x="3538000" y="869155"/>
            <a:ext cx="1168901" cy="5476193"/>
          </a:xfrm>
          <a:prstGeom prst="bentConnector3">
            <a:avLst>
              <a:gd name="adj1" fmla="val 562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圖片 32">
            <a:extLst>
              <a:ext uri="{FF2B5EF4-FFF2-40B4-BE49-F238E27FC236}">
                <a16:creationId xmlns:a16="http://schemas.microsoft.com/office/drawing/2014/main" id="{A13BBCBF-B4A9-B66E-B8E2-85A3EDE23C3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15063" y="1753695"/>
            <a:ext cx="5570705" cy="1023509"/>
          </a:xfrm>
          <a:prstGeom prst="rect">
            <a:avLst/>
          </a:prstGeom>
        </p:spPr>
      </p:pic>
      <p:sp>
        <p:nvSpPr>
          <p:cNvPr id="37" name="文字方塊 36">
            <a:extLst>
              <a:ext uri="{FF2B5EF4-FFF2-40B4-BE49-F238E27FC236}">
                <a16:creationId xmlns:a16="http://schemas.microsoft.com/office/drawing/2014/main" id="{D2A8C6DE-2C37-F005-2751-DA9A280FAF9C}"/>
              </a:ext>
            </a:extLst>
          </p:cNvPr>
          <p:cNvSpPr txBox="1"/>
          <p:nvPr/>
        </p:nvSpPr>
        <p:spPr>
          <a:xfrm>
            <a:off x="3146945" y="3300043"/>
            <a:ext cx="1687523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dirty="0">
                <a:ea typeface="標楷體" panose="03000509000000000000" pitchFamily="65" charset="-120"/>
              </a:rPr>
              <a:t>Prediction</a:t>
            </a:r>
            <a:endParaRPr lang="zh-TW" altLang="en-US" dirty="0"/>
          </a:p>
        </p:txBody>
      </p:sp>
      <p:sp>
        <p:nvSpPr>
          <p:cNvPr id="40" name="文字方塊 39">
            <a:extLst>
              <a:ext uri="{FF2B5EF4-FFF2-40B4-BE49-F238E27FC236}">
                <a16:creationId xmlns:a16="http://schemas.microsoft.com/office/drawing/2014/main" id="{64CC6C41-A0DF-B1D2-E967-F8A2C4AA2AB8}"/>
              </a:ext>
            </a:extLst>
          </p:cNvPr>
          <p:cNvSpPr txBox="1"/>
          <p:nvPr/>
        </p:nvSpPr>
        <p:spPr>
          <a:xfrm>
            <a:off x="10385768" y="4464105"/>
            <a:ext cx="1544356" cy="276999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TW" sz="1200" dirty="0">
                <a:effectLst/>
                <a:ea typeface="標楷體" panose="03000509000000000000" pitchFamily="65" charset="-120"/>
              </a:rPr>
              <a:t>Target </a:t>
            </a:r>
            <a:r>
              <a:rPr lang="en-US" altLang="zh-TW" sz="1200" dirty="0">
                <a:ea typeface="標楷體" panose="03000509000000000000" pitchFamily="65" charset="-120"/>
              </a:rPr>
              <a:t>disease</a:t>
            </a:r>
            <a:endParaRPr lang="zh-TW" altLang="en-US" sz="1200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EB1CBBDC-3160-F62B-8E49-1755615248B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53730"/>
          <a:stretch/>
        </p:blipFill>
        <p:spPr>
          <a:xfrm>
            <a:off x="4706901" y="2779157"/>
            <a:ext cx="2903209" cy="3998389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EDC8AD1E-AF13-051C-4FE9-FEE598502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0754" y="6512396"/>
            <a:ext cx="5257678" cy="369332"/>
          </a:xfrm>
        </p:spPr>
        <p:txBody>
          <a:bodyPr>
            <a:normAutofit/>
          </a:bodyPr>
          <a:lstStyle/>
          <a:p>
            <a:pPr algn="ctr"/>
            <a:r>
              <a:rPr lang="zh-TW" altLang="en-US" sz="1800" b="1" dirty="0">
                <a:solidFill>
                  <a:srgbClr val="C42A04"/>
                </a:solidFill>
              </a:rPr>
              <a:t>整合知識圖譜與幾何深度學習於虛擬藥物篩選平台</a:t>
            </a:r>
            <a:endParaRPr lang="zh-TW" altLang="en-US" sz="1800" dirty="0">
              <a:solidFill>
                <a:srgbClr val="C42A0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85321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4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000"/>
                            </p:stCondLst>
                            <p:childTnLst>
                              <p:par>
                                <p:cTn id="8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000"/>
                            </p:stCondLst>
                            <p:childTnLst>
                              <p:par>
                                <p:cTn id="9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109" grpId="0"/>
      <p:bldP spid="54" grpId="0" animBg="1"/>
      <p:bldP spid="11" grpId="0" animBg="1"/>
      <p:bldP spid="14" grpId="0" animBg="1"/>
      <p:bldP spid="37" grpId="0" animBg="1"/>
      <p:bldP spid="40" grpId="0" animBg="1"/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群組 18">
            <a:extLst>
              <a:ext uri="{FF2B5EF4-FFF2-40B4-BE49-F238E27FC236}">
                <a16:creationId xmlns:a16="http://schemas.microsoft.com/office/drawing/2014/main" id="{77773E01-8625-E410-546C-65752C52BFB3}"/>
              </a:ext>
            </a:extLst>
          </p:cNvPr>
          <p:cNvGrpSpPr/>
          <p:nvPr/>
        </p:nvGrpSpPr>
        <p:grpSpPr>
          <a:xfrm>
            <a:off x="4117974" y="368299"/>
            <a:ext cx="3251200" cy="3251200"/>
            <a:chOff x="4117974" y="368299"/>
            <a:chExt cx="3251200" cy="3251200"/>
          </a:xfrm>
        </p:grpSpPr>
        <p:sp>
          <p:nvSpPr>
            <p:cNvPr id="4" name="手繪多邊形: 圖案 3">
              <a:extLst>
                <a:ext uri="{FF2B5EF4-FFF2-40B4-BE49-F238E27FC236}">
                  <a16:creationId xmlns:a16="http://schemas.microsoft.com/office/drawing/2014/main" id="{0E2E8733-B8BD-3A5D-DD8E-D83050005791}"/>
                </a:ext>
              </a:extLst>
            </p:cNvPr>
            <p:cNvSpPr/>
            <p:nvPr/>
          </p:nvSpPr>
          <p:spPr>
            <a:xfrm>
              <a:off x="4117974" y="368299"/>
              <a:ext cx="3251200" cy="3251200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024D94">
                <a:alpha val="50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433494" tIns="568960" rIns="433493" bIns="1219200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6500" kern="1200" dirty="0"/>
                <a:t> </a:t>
              </a: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3D64822C-BE31-DFB7-C2BD-BC8795689203}"/>
                </a:ext>
              </a:extLst>
            </p:cNvPr>
            <p:cNvSpPr txBox="1"/>
            <p:nvPr/>
          </p:nvSpPr>
          <p:spPr>
            <a:xfrm>
              <a:off x="5138281" y="812585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/>
                <a:t>商業策略</a:t>
              </a: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09D91D77-1F81-4133-6222-8B66CB98F418}"/>
                </a:ext>
              </a:extLst>
            </p:cNvPr>
            <p:cNvSpPr txBox="1"/>
            <p:nvPr/>
          </p:nvSpPr>
          <p:spPr>
            <a:xfrm>
              <a:off x="4612495" y="1131218"/>
              <a:ext cx="2262158" cy="120032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縮短藥物開發時程</a:t>
              </a:r>
              <a:endParaRPr lang="en-US" altLang="zh-TW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降低成本</a:t>
              </a:r>
              <a:endParaRPr lang="en-US" altLang="zh-TW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確保產品資訊正確性</a:t>
              </a:r>
              <a:endParaRPr lang="en-US" altLang="zh-TW" b="1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j-ea"/>
                  <a:ea typeface="+mj-ea"/>
                </a:rPr>
                <a:t>提升研發決策依據</a:t>
              </a:r>
            </a:p>
          </p:txBody>
        </p: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B2549AF2-A3C5-B6B7-0D84-F0F63CE3F4AF}"/>
              </a:ext>
            </a:extLst>
          </p:cNvPr>
          <p:cNvGrpSpPr/>
          <p:nvPr/>
        </p:nvGrpSpPr>
        <p:grpSpPr>
          <a:xfrm>
            <a:off x="2944833" y="2400299"/>
            <a:ext cx="3251200" cy="3251200"/>
            <a:chOff x="2944833" y="2400299"/>
            <a:chExt cx="3251200" cy="3251200"/>
          </a:xfrm>
        </p:grpSpPr>
        <p:sp>
          <p:nvSpPr>
            <p:cNvPr id="6" name="手繪多邊形: 圖案 5">
              <a:extLst>
                <a:ext uri="{FF2B5EF4-FFF2-40B4-BE49-F238E27FC236}">
                  <a16:creationId xmlns:a16="http://schemas.microsoft.com/office/drawing/2014/main" id="{AD4F8D76-8A09-FBED-41CB-E4F2CDA21998}"/>
                </a:ext>
              </a:extLst>
            </p:cNvPr>
            <p:cNvSpPr/>
            <p:nvPr/>
          </p:nvSpPr>
          <p:spPr>
            <a:xfrm>
              <a:off x="2944833" y="2400299"/>
              <a:ext cx="3251200" cy="3251200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C42A04">
                <a:alpha val="50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306155" tIns="839893" rIns="994325" bIns="623147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6500" kern="1200" dirty="0"/>
                <a:t> </a:t>
              </a:r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1F40B508-527F-9806-015F-E5E9286ADBE0}"/>
                </a:ext>
              </a:extLst>
            </p:cNvPr>
            <p:cNvSpPr txBox="1"/>
            <p:nvPr/>
          </p:nvSpPr>
          <p:spPr>
            <a:xfrm>
              <a:off x="3603843" y="3519517"/>
              <a:ext cx="12105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/>
                <a:t>技術整合</a:t>
              </a: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6DFD25CF-05CC-14B3-DFD9-D7A8CE2FCFF1}"/>
                </a:ext>
              </a:extLst>
            </p:cNvPr>
            <p:cNvSpPr txBox="1"/>
            <p:nvPr/>
          </p:nvSpPr>
          <p:spPr>
            <a:xfrm>
              <a:off x="3051608" y="3971486"/>
              <a:ext cx="2315057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n-ea"/>
                </a:rPr>
                <a:t>知識圖譜 </a:t>
              </a:r>
              <a:r>
                <a:rPr lang="en-US" altLang="zh-TW" b="1" dirty="0">
                  <a:solidFill>
                    <a:schemeClr val="bg1"/>
                  </a:solidFill>
                  <a:latin typeface="+mn-ea"/>
                </a:rPr>
                <a:t>+ GNN</a:t>
              </a:r>
            </a:p>
            <a:p>
              <a:pPr algn="ctr"/>
              <a:r>
                <a:rPr lang="zh-TW" altLang="en-US" b="1" dirty="0">
                  <a:solidFill>
                    <a:schemeClr val="bg1"/>
                  </a:solidFill>
                </a:rPr>
                <a:t> 幾何深度學習應用於</a:t>
              </a:r>
              <a:endParaRPr lang="en-US" altLang="zh-TW" b="1" dirty="0">
                <a:solidFill>
                  <a:schemeClr val="bg1"/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bg1"/>
                  </a:solidFill>
                </a:rPr>
                <a:t>分子特徵表示</a:t>
              </a:r>
              <a:endParaRPr lang="en-US" altLang="zh-TW" b="1" dirty="0">
                <a:solidFill>
                  <a:schemeClr val="bg1"/>
                </a:solidFill>
                <a:latin typeface="+mn-ea"/>
              </a:endParaRPr>
            </a:p>
          </p:txBody>
        </p:sp>
      </p:grp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04E7C872-20AC-2127-E511-344BB06F3F91}"/>
              </a:ext>
            </a:extLst>
          </p:cNvPr>
          <p:cNvGrpSpPr/>
          <p:nvPr/>
        </p:nvGrpSpPr>
        <p:grpSpPr>
          <a:xfrm>
            <a:off x="5291116" y="2400299"/>
            <a:ext cx="3251200" cy="3251200"/>
            <a:chOff x="5291116" y="2400299"/>
            <a:chExt cx="3251200" cy="3251200"/>
          </a:xfrm>
        </p:grpSpPr>
        <p:sp>
          <p:nvSpPr>
            <p:cNvPr id="5" name="手繪多邊形: 圖案 4">
              <a:extLst>
                <a:ext uri="{FF2B5EF4-FFF2-40B4-BE49-F238E27FC236}">
                  <a16:creationId xmlns:a16="http://schemas.microsoft.com/office/drawing/2014/main" id="{DF093300-BC60-99D4-DB13-1F6BDBD963F0}"/>
                </a:ext>
              </a:extLst>
            </p:cNvPr>
            <p:cNvSpPr/>
            <p:nvPr/>
          </p:nvSpPr>
          <p:spPr>
            <a:xfrm>
              <a:off x="5291116" y="2400299"/>
              <a:ext cx="3251200" cy="3251200"/>
            </a:xfrm>
            <a:custGeom>
              <a:avLst/>
              <a:gdLst>
                <a:gd name="connsiteX0" fmla="*/ 0 w 3251200"/>
                <a:gd name="connsiteY0" fmla="*/ 1625600 h 3251200"/>
                <a:gd name="connsiteX1" fmla="*/ 1625600 w 3251200"/>
                <a:gd name="connsiteY1" fmla="*/ 0 h 3251200"/>
                <a:gd name="connsiteX2" fmla="*/ 3251200 w 3251200"/>
                <a:gd name="connsiteY2" fmla="*/ 1625600 h 3251200"/>
                <a:gd name="connsiteX3" fmla="*/ 1625600 w 3251200"/>
                <a:gd name="connsiteY3" fmla="*/ 3251200 h 3251200"/>
                <a:gd name="connsiteX4" fmla="*/ 0 w 3251200"/>
                <a:gd name="connsiteY4" fmla="*/ 1625600 h 3251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251200" h="3251200">
                  <a:moveTo>
                    <a:pt x="0" y="1625600"/>
                  </a:moveTo>
                  <a:cubicBezTo>
                    <a:pt x="0" y="727806"/>
                    <a:pt x="727806" y="0"/>
                    <a:pt x="1625600" y="0"/>
                  </a:cubicBezTo>
                  <a:cubicBezTo>
                    <a:pt x="2523394" y="0"/>
                    <a:pt x="3251200" y="727806"/>
                    <a:pt x="3251200" y="1625600"/>
                  </a:cubicBezTo>
                  <a:cubicBezTo>
                    <a:pt x="3251200" y="2523394"/>
                    <a:pt x="2523394" y="3251200"/>
                    <a:pt x="1625600" y="3251200"/>
                  </a:cubicBezTo>
                  <a:cubicBezTo>
                    <a:pt x="727806" y="3251200"/>
                    <a:pt x="0" y="2523394"/>
                    <a:pt x="0" y="1625600"/>
                  </a:cubicBezTo>
                  <a:close/>
                </a:path>
              </a:pathLst>
            </a:custGeom>
            <a:solidFill>
              <a:srgbClr val="029492">
                <a:alpha val="50000"/>
              </a:srgb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alpha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tx1"/>
            </a:fontRef>
          </p:style>
          <p:txBody>
            <a:bodyPr spcFirstLastPara="0" vert="horz" wrap="square" lIns="994325" tIns="839893" rIns="306155" bIns="623147" numCol="1" spcCol="1270" anchor="ctr" anchorCtr="0">
              <a:noAutofit/>
            </a:bodyPr>
            <a:lstStyle/>
            <a:p>
              <a:pPr marL="0" lvl="0" indent="0" algn="ctr" defTabSz="28892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zh-TW" altLang="en-US" sz="6500" kern="1200" dirty="0"/>
                <a:t> </a:t>
              </a:r>
            </a:p>
          </p:txBody>
        </p:sp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E4BD3684-46BD-1620-D56E-548D778D3DE1}"/>
                </a:ext>
              </a:extLst>
            </p:cNvPr>
            <p:cNvSpPr txBox="1"/>
            <p:nvPr/>
          </p:nvSpPr>
          <p:spPr>
            <a:xfrm>
              <a:off x="6577469" y="3519517"/>
              <a:ext cx="146706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2000" b="1" dirty="0"/>
                <a:t>使用者需求</a:t>
              </a:r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51571D8A-5737-A867-5102-8784C55F96F7}"/>
                </a:ext>
              </a:extLst>
            </p:cNvPr>
            <p:cNvSpPr txBox="1"/>
            <p:nvPr/>
          </p:nvSpPr>
          <p:spPr>
            <a:xfrm>
              <a:off x="6211416" y="3971485"/>
              <a:ext cx="226215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n-ea"/>
                </a:rPr>
                <a:t>降低學習門檻</a:t>
              </a:r>
              <a:endParaRPr lang="en-US" altLang="zh-TW" b="1" dirty="0">
                <a:solidFill>
                  <a:schemeClr val="bg1"/>
                </a:solidFill>
                <a:latin typeface="+mn-ea"/>
              </a:endParaRPr>
            </a:p>
            <a:p>
              <a:pPr algn="ctr"/>
              <a:r>
                <a:rPr lang="zh-TW" altLang="en-US" b="1" dirty="0">
                  <a:solidFill>
                    <a:schemeClr val="bg1"/>
                  </a:solidFill>
                  <a:latin typeface="+mn-ea"/>
                </a:rPr>
                <a:t>滿足多樣化應用場景</a:t>
              </a:r>
            </a:p>
          </p:txBody>
        </p:sp>
      </p:grpSp>
      <p:sp>
        <p:nvSpPr>
          <p:cNvPr id="16" name="標題 1">
            <a:extLst>
              <a:ext uri="{FF2B5EF4-FFF2-40B4-BE49-F238E27FC236}">
                <a16:creationId xmlns:a16="http://schemas.microsoft.com/office/drawing/2014/main" id="{8BEE82FC-E4E5-5DC6-2237-6E8AED019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172" y="5607160"/>
            <a:ext cx="10484803" cy="1325563"/>
          </a:xfrm>
        </p:spPr>
        <p:txBody>
          <a:bodyPr>
            <a:normAutofit/>
          </a:bodyPr>
          <a:lstStyle/>
          <a:p>
            <a:pPr algn="ctr"/>
            <a:r>
              <a:rPr lang="zh-TW" altLang="en-US" sz="3600" b="1" dirty="0">
                <a:solidFill>
                  <a:srgbClr val="C42A04"/>
                </a:solidFill>
              </a:rPr>
              <a:t>整合知識圖譜與幾何深度學習於虛擬藥物篩選平台</a:t>
            </a:r>
            <a:endParaRPr lang="zh-TW" altLang="en-US" sz="3600" dirty="0">
              <a:solidFill>
                <a:srgbClr val="C42A04"/>
              </a:solidFill>
            </a:endParaRPr>
          </a:p>
        </p:txBody>
      </p: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92CA9AE6-970D-50F4-56FF-5E27D5121B40}"/>
              </a:ext>
            </a:extLst>
          </p:cNvPr>
          <p:cNvGrpSpPr/>
          <p:nvPr/>
        </p:nvGrpSpPr>
        <p:grpSpPr>
          <a:xfrm>
            <a:off x="5608781" y="3219450"/>
            <a:ext cx="300067" cy="2677022"/>
            <a:chOff x="5608781" y="3219450"/>
            <a:chExt cx="300067" cy="2677022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E17BBA66-4EDE-C990-7BDA-CC9FA0C7214D}"/>
                </a:ext>
              </a:extLst>
            </p:cNvPr>
            <p:cNvSpPr/>
            <p:nvPr/>
          </p:nvSpPr>
          <p:spPr>
            <a:xfrm>
              <a:off x="5608781" y="3219450"/>
              <a:ext cx="300067" cy="300067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>
                <a:solidFill>
                  <a:schemeClr val="bg2">
                    <a:lumMod val="50000"/>
                  </a:schemeClr>
                </a:solidFill>
              </a:endParaRPr>
            </a:p>
          </p:txBody>
        </p:sp>
        <p:sp>
          <p:nvSpPr>
            <p:cNvPr id="15" name="箭號: 向下 14">
              <a:extLst>
                <a:ext uri="{FF2B5EF4-FFF2-40B4-BE49-F238E27FC236}">
                  <a16:creationId xmlns:a16="http://schemas.microsoft.com/office/drawing/2014/main" id="{E1CE4C75-C3CE-449C-BC5D-BFA21075F275}"/>
                </a:ext>
              </a:extLst>
            </p:cNvPr>
            <p:cNvSpPr/>
            <p:nvPr/>
          </p:nvSpPr>
          <p:spPr>
            <a:xfrm>
              <a:off x="5672400" y="3369483"/>
              <a:ext cx="150034" cy="2349750"/>
            </a:xfrm>
            <a:prstGeom prst="downArrow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" name="等腰三角形 1">
              <a:extLst>
                <a:ext uri="{FF2B5EF4-FFF2-40B4-BE49-F238E27FC236}">
                  <a16:creationId xmlns:a16="http://schemas.microsoft.com/office/drawing/2014/main" id="{F527781C-B07B-E2E5-B74C-538AF98FED08}"/>
                </a:ext>
              </a:extLst>
            </p:cNvPr>
            <p:cNvSpPr/>
            <p:nvPr/>
          </p:nvSpPr>
          <p:spPr>
            <a:xfrm flipV="1">
              <a:off x="5634650" y="5645305"/>
              <a:ext cx="217849" cy="251167"/>
            </a:xfrm>
            <a:prstGeom prst="triangle">
              <a:avLst/>
            </a:prstGeom>
            <a:solidFill>
              <a:srgbClr val="76717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42615969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橢圓 9">
            <a:extLst>
              <a:ext uri="{FF2B5EF4-FFF2-40B4-BE49-F238E27FC236}">
                <a16:creationId xmlns:a16="http://schemas.microsoft.com/office/drawing/2014/main" id="{210B692D-3F9F-B1DF-E776-514A29131B70}"/>
              </a:ext>
            </a:extLst>
          </p:cNvPr>
          <p:cNvSpPr/>
          <p:nvPr/>
        </p:nvSpPr>
        <p:spPr>
          <a:xfrm>
            <a:off x="5577863" y="2736501"/>
            <a:ext cx="2458697" cy="2458697"/>
          </a:xfrm>
          <a:prstGeom prst="ellipse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526F2E3-D0F2-FF85-27C0-DF450D89F430}"/>
              </a:ext>
            </a:extLst>
          </p:cNvPr>
          <p:cNvSpPr txBox="1"/>
          <p:nvPr/>
        </p:nvSpPr>
        <p:spPr>
          <a:xfrm>
            <a:off x="883920" y="792480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29492"/>
                </a:solidFill>
              </a:rPr>
              <a:t>已經完成事項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757F6E9-E68D-B981-73FE-362FA0DF0284}"/>
              </a:ext>
            </a:extLst>
          </p:cNvPr>
          <p:cNvSpPr txBox="1"/>
          <p:nvPr/>
        </p:nvSpPr>
        <p:spPr>
          <a:xfrm>
            <a:off x="792870" y="3781184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b="1" dirty="0">
                <a:solidFill>
                  <a:srgbClr val="029492"/>
                </a:solidFill>
              </a:rPr>
              <a:t>未來規劃的事項</a:t>
            </a: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B4D05FA2-77A1-3CC5-9D2C-4CFB7AEC692E}"/>
              </a:ext>
            </a:extLst>
          </p:cNvPr>
          <p:cNvSpPr/>
          <p:nvPr/>
        </p:nvSpPr>
        <p:spPr>
          <a:xfrm>
            <a:off x="3454423" y="2736501"/>
            <a:ext cx="2458697" cy="2458697"/>
          </a:xfrm>
          <a:prstGeom prst="ellipse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C2458B5-B749-912A-1E83-8091FD80CA41}"/>
              </a:ext>
            </a:extLst>
          </p:cNvPr>
          <p:cNvSpPr/>
          <p:nvPr/>
        </p:nvSpPr>
        <p:spPr>
          <a:xfrm>
            <a:off x="7762263" y="2736501"/>
            <a:ext cx="2458697" cy="2458697"/>
          </a:xfrm>
          <a:prstGeom prst="ellipse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4A24A15-2D04-5502-4C4E-4F72D83C6B7D}"/>
              </a:ext>
            </a:extLst>
          </p:cNvPr>
          <p:cNvSpPr txBox="1"/>
          <p:nvPr/>
        </p:nvSpPr>
        <p:spPr>
          <a:xfrm>
            <a:off x="3830830" y="3642681"/>
            <a:ext cx="15696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C42A04"/>
                </a:solidFill>
              </a:rPr>
              <a:t>優化互動體驗</a:t>
            </a:r>
            <a:endParaRPr lang="en-US" altLang="zh-TW" b="1" dirty="0">
              <a:solidFill>
                <a:srgbClr val="C42A04"/>
              </a:solidFill>
            </a:endParaRPr>
          </a:p>
          <a:p>
            <a:pPr algn="ctr"/>
            <a:r>
              <a:rPr lang="zh-TW" altLang="en-US" b="1" dirty="0">
                <a:solidFill>
                  <a:srgbClr val="C42A04"/>
                </a:solidFill>
              </a:rPr>
              <a:t>（</a:t>
            </a:r>
            <a:r>
              <a:rPr lang="en-US" altLang="zh-TW" b="1" dirty="0">
                <a:solidFill>
                  <a:srgbClr val="C42A04"/>
                </a:solidFill>
              </a:rPr>
              <a:t>UI / UX</a:t>
            </a:r>
            <a:r>
              <a:rPr lang="zh-TW" altLang="en-US" b="1" dirty="0">
                <a:solidFill>
                  <a:srgbClr val="C42A04"/>
                </a:solidFill>
              </a:rPr>
              <a:t>）</a:t>
            </a: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2D8B40F-A35D-2DAA-689E-FEDC2120AF14}"/>
              </a:ext>
            </a:extLst>
          </p:cNvPr>
          <p:cNvSpPr txBox="1"/>
          <p:nvPr/>
        </p:nvSpPr>
        <p:spPr>
          <a:xfrm>
            <a:off x="8153026" y="3781184"/>
            <a:ext cx="1771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C42A04"/>
                </a:solidFill>
              </a:rPr>
              <a:t>優化</a:t>
            </a:r>
            <a:r>
              <a:rPr lang="en-US" altLang="zh-TW" b="1" dirty="0" err="1">
                <a:solidFill>
                  <a:srgbClr val="C42A04"/>
                </a:solidFill>
              </a:rPr>
              <a:t>TxGNN</a:t>
            </a:r>
            <a:r>
              <a:rPr lang="zh-TW" altLang="en-US" b="1" dirty="0">
                <a:solidFill>
                  <a:srgbClr val="C42A04"/>
                </a:solidFill>
              </a:rPr>
              <a:t>模型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36CBE8A-B592-7EF9-4E7B-E3F497F5849C}"/>
              </a:ext>
            </a:extLst>
          </p:cNvPr>
          <p:cNvSpPr txBox="1"/>
          <p:nvPr/>
        </p:nvSpPr>
        <p:spPr>
          <a:xfrm>
            <a:off x="4730405" y="5687599"/>
            <a:ext cx="185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+mn-ea"/>
              </a:rPr>
              <a:t>增強資料結構性</a:t>
            </a:r>
          </a:p>
        </p:txBody>
      </p:sp>
      <p:sp>
        <p:nvSpPr>
          <p:cNvPr id="18" name="矩形: 圓角 17">
            <a:extLst>
              <a:ext uri="{FF2B5EF4-FFF2-40B4-BE49-F238E27FC236}">
                <a16:creationId xmlns:a16="http://schemas.microsoft.com/office/drawing/2014/main" id="{BB80AF7B-BB35-B4FF-1065-ECC53CBA5077}"/>
              </a:ext>
            </a:extLst>
          </p:cNvPr>
          <p:cNvSpPr/>
          <p:nvPr/>
        </p:nvSpPr>
        <p:spPr>
          <a:xfrm>
            <a:off x="1594041" y="5348208"/>
            <a:ext cx="2256255" cy="1301269"/>
          </a:xfrm>
          <a:prstGeom prst="roundRect">
            <a:avLst/>
          </a:prstGeom>
          <a:noFill/>
          <a:ln w="381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AFA7AF1F-D68A-37FC-C44B-5DF3E80A0F2B}"/>
              </a:ext>
            </a:extLst>
          </p:cNvPr>
          <p:cNvSpPr txBox="1"/>
          <p:nvPr/>
        </p:nvSpPr>
        <p:spPr>
          <a:xfrm>
            <a:off x="2519956" y="6294530"/>
            <a:ext cx="11176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使用體驗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2AF62B59-C1CB-4D99-A8C5-6FECCF7ADB33}"/>
              </a:ext>
            </a:extLst>
          </p:cNvPr>
          <p:cNvSpPr txBox="1"/>
          <p:nvPr/>
        </p:nvSpPr>
        <p:spPr>
          <a:xfrm>
            <a:off x="1728631" y="5385698"/>
            <a:ext cx="115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使用門檻</a:t>
            </a:r>
          </a:p>
        </p:txBody>
      </p:sp>
      <p:sp>
        <p:nvSpPr>
          <p:cNvPr id="23" name="箭號: 向下 22">
            <a:extLst>
              <a:ext uri="{FF2B5EF4-FFF2-40B4-BE49-F238E27FC236}">
                <a16:creationId xmlns:a16="http://schemas.microsoft.com/office/drawing/2014/main" id="{0A993E2E-3B3F-B8D9-FB4B-EC4C4AB1AA6C}"/>
              </a:ext>
            </a:extLst>
          </p:cNvPr>
          <p:cNvSpPr/>
          <p:nvPr/>
        </p:nvSpPr>
        <p:spPr>
          <a:xfrm>
            <a:off x="2142681" y="5755030"/>
            <a:ext cx="304800" cy="737210"/>
          </a:xfrm>
          <a:prstGeom prst="downArrow">
            <a:avLst/>
          </a:prstGeom>
          <a:solidFill>
            <a:srgbClr val="029492"/>
          </a:solidFill>
          <a:ln>
            <a:solidFill>
              <a:srgbClr val="18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箭號: 向下 23">
            <a:extLst>
              <a:ext uri="{FF2B5EF4-FFF2-40B4-BE49-F238E27FC236}">
                <a16:creationId xmlns:a16="http://schemas.microsoft.com/office/drawing/2014/main" id="{F3456781-B3E3-D996-3374-34F78B029CBF}"/>
              </a:ext>
            </a:extLst>
          </p:cNvPr>
          <p:cNvSpPr/>
          <p:nvPr/>
        </p:nvSpPr>
        <p:spPr>
          <a:xfrm flipV="1">
            <a:off x="2898386" y="5544454"/>
            <a:ext cx="304800" cy="737210"/>
          </a:xfrm>
          <a:prstGeom prst="downArrow">
            <a:avLst/>
          </a:prstGeom>
          <a:solidFill>
            <a:srgbClr val="029492"/>
          </a:solidFill>
          <a:ln>
            <a:solidFill>
              <a:srgbClr val="18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9E59A9-4402-80DA-E833-703D2C638459}"/>
              </a:ext>
            </a:extLst>
          </p:cNvPr>
          <p:cNvSpPr/>
          <p:nvPr/>
        </p:nvSpPr>
        <p:spPr>
          <a:xfrm rot="20763625" flipV="1">
            <a:off x="1694052" y="5069009"/>
            <a:ext cx="2206786" cy="45719"/>
          </a:xfrm>
          <a:prstGeom prst="rect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" name="矩形: 圓角 29">
            <a:extLst>
              <a:ext uri="{FF2B5EF4-FFF2-40B4-BE49-F238E27FC236}">
                <a16:creationId xmlns:a16="http://schemas.microsoft.com/office/drawing/2014/main" id="{934D0678-674D-F703-9C88-F28F6E3BFF47}"/>
              </a:ext>
            </a:extLst>
          </p:cNvPr>
          <p:cNvSpPr/>
          <p:nvPr/>
        </p:nvSpPr>
        <p:spPr>
          <a:xfrm>
            <a:off x="4583991" y="5441017"/>
            <a:ext cx="3084965" cy="1301269"/>
          </a:xfrm>
          <a:prstGeom prst="roundRect">
            <a:avLst/>
          </a:prstGeom>
          <a:noFill/>
          <a:ln w="381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59A7206B-E921-00EB-4A76-5C473B687875}"/>
              </a:ext>
            </a:extLst>
          </p:cNvPr>
          <p:cNvSpPr/>
          <p:nvPr/>
        </p:nvSpPr>
        <p:spPr>
          <a:xfrm rot="20763625">
            <a:off x="4771730" y="5154118"/>
            <a:ext cx="2088700" cy="45719"/>
          </a:xfrm>
          <a:prstGeom prst="rect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EDA8CF74-8CC7-8D8F-53A1-B4F829F7B714}"/>
              </a:ext>
            </a:extLst>
          </p:cNvPr>
          <p:cNvSpPr txBox="1"/>
          <p:nvPr/>
        </p:nvSpPr>
        <p:spPr>
          <a:xfrm>
            <a:off x="6590571" y="6344693"/>
            <a:ext cx="96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資料量</a:t>
            </a:r>
          </a:p>
        </p:txBody>
      </p:sp>
      <p:sp>
        <p:nvSpPr>
          <p:cNvPr id="33" name="箭號: 彎曲 32">
            <a:extLst>
              <a:ext uri="{FF2B5EF4-FFF2-40B4-BE49-F238E27FC236}">
                <a16:creationId xmlns:a16="http://schemas.microsoft.com/office/drawing/2014/main" id="{8AA380F5-9FDA-EFDD-041B-95F8EABFA80F}"/>
              </a:ext>
            </a:extLst>
          </p:cNvPr>
          <p:cNvSpPr/>
          <p:nvPr/>
        </p:nvSpPr>
        <p:spPr>
          <a:xfrm rot="5400000" flipH="1">
            <a:off x="6684802" y="5632676"/>
            <a:ext cx="721952" cy="630432"/>
          </a:xfrm>
          <a:prstGeom prst="bentArrow">
            <a:avLst/>
          </a:prstGeom>
          <a:solidFill>
            <a:srgbClr val="02949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36" name="文字方塊 35">
            <a:extLst>
              <a:ext uri="{FF2B5EF4-FFF2-40B4-BE49-F238E27FC236}">
                <a16:creationId xmlns:a16="http://schemas.microsoft.com/office/drawing/2014/main" id="{7B63359A-09CC-0D33-576A-893801F1E483}"/>
              </a:ext>
            </a:extLst>
          </p:cNvPr>
          <p:cNvSpPr txBox="1"/>
          <p:nvPr/>
        </p:nvSpPr>
        <p:spPr>
          <a:xfrm>
            <a:off x="4730405" y="6157623"/>
            <a:ext cx="18537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+mn-ea"/>
              </a:rPr>
              <a:t>提升答案可讀性</a:t>
            </a:r>
          </a:p>
        </p:txBody>
      </p:sp>
      <p:sp>
        <p:nvSpPr>
          <p:cNvPr id="37" name="文字方塊 36">
            <a:extLst>
              <a:ext uri="{FF2B5EF4-FFF2-40B4-BE49-F238E27FC236}">
                <a16:creationId xmlns:a16="http://schemas.microsoft.com/office/drawing/2014/main" id="{D6D2F172-C5A4-EF8F-59BB-969FC84625E3}"/>
              </a:ext>
            </a:extLst>
          </p:cNvPr>
          <p:cNvSpPr txBox="1"/>
          <p:nvPr/>
        </p:nvSpPr>
        <p:spPr>
          <a:xfrm>
            <a:off x="8387465" y="5938969"/>
            <a:ext cx="20794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+mn-ea"/>
              </a:rPr>
              <a:t>針對特定少數類別</a:t>
            </a:r>
            <a:endParaRPr lang="en-US" altLang="zh-TW" b="1" dirty="0">
              <a:latin typeface="+mn-ea"/>
            </a:endParaRPr>
          </a:p>
        </p:txBody>
      </p:sp>
      <p:sp>
        <p:nvSpPr>
          <p:cNvPr id="38" name="矩形: 圓角 37">
            <a:extLst>
              <a:ext uri="{FF2B5EF4-FFF2-40B4-BE49-F238E27FC236}">
                <a16:creationId xmlns:a16="http://schemas.microsoft.com/office/drawing/2014/main" id="{4EE69319-724D-2F58-A857-9928270F98C9}"/>
              </a:ext>
            </a:extLst>
          </p:cNvPr>
          <p:cNvSpPr/>
          <p:nvPr/>
        </p:nvSpPr>
        <p:spPr>
          <a:xfrm>
            <a:off x="8283423" y="5450747"/>
            <a:ext cx="3084965" cy="1301269"/>
          </a:xfrm>
          <a:prstGeom prst="roundRect">
            <a:avLst/>
          </a:prstGeom>
          <a:noFill/>
          <a:ln w="381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>
            <a:extLst>
              <a:ext uri="{FF2B5EF4-FFF2-40B4-BE49-F238E27FC236}">
                <a16:creationId xmlns:a16="http://schemas.microsoft.com/office/drawing/2014/main" id="{D957B80C-CEAD-5A8B-42DA-04A43E6AE5CD}"/>
              </a:ext>
            </a:extLst>
          </p:cNvPr>
          <p:cNvSpPr txBox="1"/>
          <p:nvPr/>
        </p:nvSpPr>
        <p:spPr>
          <a:xfrm>
            <a:off x="10290003" y="6354423"/>
            <a:ext cx="963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準確率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FF09E724-3BB7-8879-3BCA-9EAA1A79189A}"/>
              </a:ext>
            </a:extLst>
          </p:cNvPr>
          <p:cNvSpPr/>
          <p:nvPr/>
        </p:nvSpPr>
        <p:spPr>
          <a:xfrm rot="20142434">
            <a:off x="8381014" y="5167764"/>
            <a:ext cx="1315214" cy="45719"/>
          </a:xfrm>
          <a:prstGeom prst="rect">
            <a:avLst/>
          </a:prstGeom>
          <a:solidFill>
            <a:srgbClr val="ADB9C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箭號: 向下 42">
            <a:extLst>
              <a:ext uri="{FF2B5EF4-FFF2-40B4-BE49-F238E27FC236}">
                <a16:creationId xmlns:a16="http://schemas.microsoft.com/office/drawing/2014/main" id="{7097E80E-5308-D553-D57B-86BE15261AC7}"/>
              </a:ext>
            </a:extLst>
          </p:cNvPr>
          <p:cNvSpPr/>
          <p:nvPr/>
        </p:nvSpPr>
        <p:spPr>
          <a:xfrm flipV="1">
            <a:off x="10593248" y="5570364"/>
            <a:ext cx="304800" cy="737210"/>
          </a:xfrm>
          <a:prstGeom prst="downArrow">
            <a:avLst/>
          </a:prstGeom>
          <a:solidFill>
            <a:srgbClr val="029492"/>
          </a:solidFill>
          <a:ln>
            <a:solidFill>
              <a:srgbClr val="18171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文字方塊 48">
            <a:extLst>
              <a:ext uri="{FF2B5EF4-FFF2-40B4-BE49-F238E27FC236}">
                <a16:creationId xmlns:a16="http://schemas.microsoft.com/office/drawing/2014/main" id="{A340E9EB-BE2E-C0E9-CE44-8FE994772BF4}"/>
              </a:ext>
            </a:extLst>
          </p:cNvPr>
          <p:cNvSpPr txBox="1"/>
          <p:nvPr/>
        </p:nvSpPr>
        <p:spPr>
          <a:xfrm>
            <a:off x="8911965" y="270138"/>
            <a:ext cx="3217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虛擬藥物篩選前端平台</a:t>
            </a:r>
          </a:p>
        </p:txBody>
      </p:sp>
      <p:sp>
        <p:nvSpPr>
          <p:cNvPr id="51" name="文字方塊 50">
            <a:extLst>
              <a:ext uri="{FF2B5EF4-FFF2-40B4-BE49-F238E27FC236}">
                <a16:creationId xmlns:a16="http://schemas.microsoft.com/office/drawing/2014/main" id="{577ED314-10C3-6B07-BE76-6A7FBC00F031}"/>
              </a:ext>
            </a:extLst>
          </p:cNvPr>
          <p:cNvSpPr txBox="1"/>
          <p:nvPr/>
        </p:nvSpPr>
        <p:spPr>
          <a:xfrm>
            <a:off x="8923275" y="792480"/>
            <a:ext cx="3217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 err="1"/>
              <a:t>TxGNN</a:t>
            </a:r>
            <a:r>
              <a:rPr lang="zh-TW" altLang="en-US" b="1" dirty="0"/>
              <a:t>幾何深度學習模型部屬</a:t>
            </a:r>
          </a:p>
        </p:txBody>
      </p:sp>
      <p:pic>
        <p:nvPicPr>
          <p:cNvPr id="53" name="圖片 52">
            <a:extLst>
              <a:ext uri="{FF2B5EF4-FFF2-40B4-BE49-F238E27FC236}">
                <a16:creationId xmlns:a16="http://schemas.microsoft.com/office/drawing/2014/main" id="{37061549-0ABF-8C2E-846E-2DCA262E3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607" y="261515"/>
            <a:ext cx="360000" cy="360000"/>
          </a:xfrm>
          <a:prstGeom prst="rect">
            <a:avLst/>
          </a:prstGeom>
        </p:spPr>
      </p:pic>
      <p:pic>
        <p:nvPicPr>
          <p:cNvPr id="54" name="圖片 53">
            <a:extLst>
              <a:ext uri="{FF2B5EF4-FFF2-40B4-BE49-F238E27FC236}">
                <a16:creationId xmlns:a16="http://schemas.microsoft.com/office/drawing/2014/main" id="{5F4450F2-B81D-CD37-2215-06480C6456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607" y="788168"/>
            <a:ext cx="360000" cy="360000"/>
          </a:xfrm>
          <a:prstGeom prst="rect">
            <a:avLst/>
          </a:prstGeom>
        </p:spPr>
      </p:pic>
      <p:sp>
        <p:nvSpPr>
          <p:cNvPr id="55" name="文字方塊 54">
            <a:extLst>
              <a:ext uri="{FF2B5EF4-FFF2-40B4-BE49-F238E27FC236}">
                <a16:creationId xmlns:a16="http://schemas.microsoft.com/office/drawing/2014/main" id="{5429D5B7-AE8E-5F1B-C6BC-0B4BB4BBC2AE}"/>
              </a:ext>
            </a:extLst>
          </p:cNvPr>
          <p:cNvSpPr txBox="1"/>
          <p:nvPr/>
        </p:nvSpPr>
        <p:spPr>
          <a:xfrm>
            <a:off x="8923275" y="1322485"/>
            <a:ext cx="32177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dirty="0"/>
              <a:t>Neo4j</a:t>
            </a:r>
            <a:r>
              <a:rPr lang="zh-TW" altLang="en-US" b="1" dirty="0"/>
              <a:t>知識圖譜資料庫建立</a:t>
            </a: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069F1207-C45B-2E9F-0F6D-5B4ACDF14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26607" y="1318173"/>
            <a:ext cx="360000" cy="360000"/>
          </a:xfrm>
          <a:prstGeom prst="rect">
            <a:avLst/>
          </a:prstGeom>
        </p:spPr>
      </p:pic>
      <p:cxnSp>
        <p:nvCxnSpPr>
          <p:cNvPr id="62" name="直線接點 61">
            <a:extLst>
              <a:ext uri="{FF2B5EF4-FFF2-40B4-BE49-F238E27FC236}">
                <a16:creationId xmlns:a16="http://schemas.microsoft.com/office/drawing/2014/main" id="{4B79945B-1F6C-F519-DB7F-20414E22BE5D}"/>
              </a:ext>
            </a:extLst>
          </p:cNvPr>
          <p:cNvCxnSpPr/>
          <p:nvPr/>
        </p:nvCxnSpPr>
        <p:spPr>
          <a:xfrm>
            <a:off x="-28575" y="1051560"/>
            <a:ext cx="1051560" cy="0"/>
          </a:xfrm>
          <a:prstGeom prst="line">
            <a:avLst/>
          </a:prstGeom>
          <a:ln w="19050">
            <a:solidFill>
              <a:srgbClr val="0294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>
            <a:extLst>
              <a:ext uri="{FF2B5EF4-FFF2-40B4-BE49-F238E27FC236}">
                <a16:creationId xmlns:a16="http://schemas.microsoft.com/office/drawing/2014/main" id="{1D684B51-45BA-980F-6B4D-73F00C3622E9}"/>
              </a:ext>
            </a:extLst>
          </p:cNvPr>
          <p:cNvCxnSpPr/>
          <p:nvPr/>
        </p:nvCxnSpPr>
        <p:spPr>
          <a:xfrm>
            <a:off x="-142875" y="4030218"/>
            <a:ext cx="1051560" cy="0"/>
          </a:xfrm>
          <a:prstGeom prst="line">
            <a:avLst/>
          </a:prstGeom>
          <a:ln w="19050">
            <a:solidFill>
              <a:srgbClr val="02949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>
            <a:extLst>
              <a:ext uri="{FF2B5EF4-FFF2-40B4-BE49-F238E27FC236}">
                <a16:creationId xmlns:a16="http://schemas.microsoft.com/office/drawing/2014/main" id="{BD35714C-07E5-5FDC-FDC2-29309F86A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8522" y="421603"/>
            <a:ext cx="1170434" cy="1170434"/>
          </a:xfrm>
          <a:prstGeom prst="ellipse">
            <a:avLst/>
          </a:prstGeom>
          <a:ln w="285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47CE81FF-170B-3981-DFC2-01F8913D3E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74346" y="421820"/>
            <a:ext cx="1170000" cy="1170000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7A4341A8-AAE1-7D32-7338-90B870E33DB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6703" y="420020"/>
            <a:ext cx="1349461" cy="1173600"/>
          </a:xfrm>
          <a:prstGeom prst="ellipse">
            <a:avLst/>
          </a:prstGeom>
          <a:ln w="285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19" name="文字方塊 18">
            <a:extLst>
              <a:ext uri="{FF2B5EF4-FFF2-40B4-BE49-F238E27FC236}">
                <a16:creationId xmlns:a16="http://schemas.microsoft.com/office/drawing/2014/main" id="{4BB7596D-6E4B-1A5D-9F7F-29AD8A4769D2}"/>
              </a:ext>
            </a:extLst>
          </p:cNvPr>
          <p:cNvSpPr txBox="1"/>
          <p:nvPr/>
        </p:nvSpPr>
        <p:spPr>
          <a:xfrm>
            <a:off x="5940470" y="3642682"/>
            <a:ext cx="17284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b="1" dirty="0">
                <a:solidFill>
                  <a:srgbClr val="C42A04"/>
                </a:solidFill>
              </a:rPr>
              <a:t>補強 </a:t>
            </a:r>
            <a:r>
              <a:rPr lang="en-US" altLang="zh-TW" b="1" dirty="0" err="1">
                <a:solidFill>
                  <a:srgbClr val="C42A04"/>
                </a:solidFill>
              </a:rPr>
              <a:t>PrimeKG</a:t>
            </a:r>
            <a:r>
              <a:rPr lang="en-US" altLang="zh-TW" b="1" dirty="0">
                <a:solidFill>
                  <a:srgbClr val="C42A04"/>
                </a:solidFill>
              </a:rPr>
              <a:t> </a:t>
            </a:r>
            <a:r>
              <a:rPr lang="zh-TW" altLang="en-US" b="1" dirty="0">
                <a:solidFill>
                  <a:srgbClr val="C42A04"/>
                </a:solidFill>
              </a:rPr>
              <a:t>資料集</a:t>
            </a:r>
            <a:endParaRPr lang="en-US" altLang="zh-TW" b="1" dirty="0">
              <a:solidFill>
                <a:srgbClr val="C42A04"/>
              </a:solidFill>
            </a:endParaRP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35D06A1C-87CE-3059-1204-2E2982357F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737" y="5543159"/>
            <a:ext cx="360000" cy="360000"/>
          </a:xfrm>
          <a:prstGeom prst="rect">
            <a:avLst/>
          </a:prstGeom>
        </p:spPr>
      </p:pic>
      <p:pic>
        <p:nvPicPr>
          <p:cNvPr id="28" name="圖片 27">
            <a:extLst>
              <a:ext uri="{FF2B5EF4-FFF2-40B4-BE49-F238E27FC236}">
                <a16:creationId xmlns:a16="http://schemas.microsoft.com/office/drawing/2014/main" id="{78FA4C82-B7BA-4ACD-0F0D-0878BF93BA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737" y="6091651"/>
            <a:ext cx="360000" cy="360000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F544C48F-F7D3-B7F7-A216-C0044A0922BF}"/>
              </a:ext>
            </a:extLst>
          </p:cNvPr>
          <p:cNvSpPr txBox="1"/>
          <p:nvPr/>
        </p:nvSpPr>
        <p:spPr>
          <a:xfrm>
            <a:off x="477388" y="5562457"/>
            <a:ext cx="115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語音輸入</a:t>
            </a:r>
          </a:p>
        </p:txBody>
      </p:sp>
      <p:sp>
        <p:nvSpPr>
          <p:cNvPr id="34" name="文字方塊 33">
            <a:extLst>
              <a:ext uri="{FF2B5EF4-FFF2-40B4-BE49-F238E27FC236}">
                <a16:creationId xmlns:a16="http://schemas.microsoft.com/office/drawing/2014/main" id="{1C59DE47-42FC-5BD1-FD0A-9C21A27FA11A}"/>
              </a:ext>
            </a:extLst>
          </p:cNvPr>
          <p:cNvSpPr txBox="1"/>
          <p:nvPr/>
        </p:nvSpPr>
        <p:spPr>
          <a:xfrm>
            <a:off x="460284" y="6056169"/>
            <a:ext cx="11582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圖像搜尋</a:t>
            </a:r>
          </a:p>
        </p:txBody>
      </p:sp>
      <p:sp>
        <p:nvSpPr>
          <p:cNvPr id="35" name="文字方塊 34">
            <a:extLst>
              <a:ext uri="{FF2B5EF4-FFF2-40B4-BE49-F238E27FC236}">
                <a16:creationId xmlns:a16="http://schemas.microsoft.com/office/drawing/2014/main" id="{0D58C4A8-0DA1-7FA2-715D-539385397E37}"/>
              </a:ext>
            </a:extLst>
          </p:cNvPr>
          <p:cNvSpPr txBox="1"/>
          <p:nvPr/>
        </p:nvSpPr>
        <p:spPr>
          <a:xfrm>
            <a:off x="41991" y="5122517"/>
            <a:ext cx="16905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b="1" dirty="0"/>
              <a:t>未來將會發展</a:t>
            </a:r>
          </a:p>
        </p:txBody>
      </p:sp>
    </p:spTree>
    <p:extLst>
      <p:ext uri="{BB962C8B-B14F-4D97-AF65-F5344CB8AC3E}">
        <p14:creationId xmlns:p14="http://schemas.microsoft.com/office/powerpoint/2010/main" val="347287929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8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3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8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4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5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9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7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8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10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2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3" dur="1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7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8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1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6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8" grpId="0"/>
      <p:bldP spid="9" grpId="0"/>
      <p:bldP spid="11" grpId="0" animBg="1"/>
      <p:bldP spid="13" grpId="0" animBg="1"/>
      <p:bldP spid="15" grpId="0"/>
      <p:bldP spid="16" grpId="0"/>
      <p:bldP spid="17" grpId="0"/>
      <p:bldP spid="18" grpId="0" animBg="1"/>
      <p:bldP spid="20" grpId="0"/>
      <p:bldP spid="22" grpId="0"/>
      <p:bldP spid="23" grpId="0" animBg="1"/>
      <p:bldP spid="24" grpId="0" animBg="1"/>
      <p:bldP spid="27" grpId="0" animBg="1"/>
      <p:bldP spid="30" grpId="0" animBg="1"/>
      <p:bldP spid="31" grpId="0" animBg="1"/>
      <p:bldP spid="32" grpId="0"/>
      <p:bldP spid="33" grpId="0" animBg="1"/>
      <p:bldP spid="36" grpId="0"/>
      <p:bldP spid="37" grpId="0"/>
      <p:bldP spid="38" grpId="0" animBg="1"/>
      <p:bldP spid="39" grpId="0"/>
      <p:bldP spid="42" grpId="0" animBg="1"/>
      <p:bldP spid="43" grpId="0" animBg="1"/>
      <p:bldP spid="49" grpId="0"/>
      <p:bldP spid="51" grpId="0"/>
      <p:bldP spid="55" grpId="0"/>
      <p:bldP spid="19" grpId="0"/>
      <p:bldP spid="29" grpId="0"/>
      <p:bldP spid="34" grpId="0"/>
      <p:bldP spid="3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AAAA5AB-6B2D-F0A2-63B8-E0D9FED45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39" y="2888826"/>
            <a:ext cx="8949691" cy="1666875"/>
          </a:xfrm>
        </p:spPr>
        <p:txBody>
          <a:bodyPr>
            <a:normAutofit fontScale="90000"/>
          </a:bodyPr>
          <a:lstStyle/>
          <a:p>
            <a:r>
              <a:rPr lang="zh-TW" altLang="en-US" b="1" i="0" dirty="0">
                <a:solidFill>
                  <a:srgbClr val="59636E"/>
                </a:solidFill>
                <a:effectLst/>
                <a:latin typeface="-apple-system"/>
              </a:rPr>
              <a:t>「整合知識圖譜與幾何深度</a:t>
            </a:r>
            <a:br>
              <a:rPr lang="en-US" altLang="zh-TW" b="1" i="0" dirty="0">
                <a:solidFill>
                  <a:srgbClr val="59636E"/>
                </a:solidFill>
                <a:effectLst/>
                <a:latin typeface="-apple-system"/>
              </a:rPr>
            </a:br>
            <a:r>
              <a:rPr lang="zh-TW" altLang="en-US" b="1" i="0" dirty="0">
                <a:solidFill>
                  <a:srgbClr val="59636E"/>
                </a:solidFill>
                <a:effectLst/>
                <a:latin typeface="-apple-system"/>
              </a:rPr>
              <a:t>         學習於虛擬藥物篩選平台」</a:t>
            </a:r>
            <a:br>
              <a:rPr lang="en-US" altLang="zh-TW" b="1" i="0" dirty="0">
                <a:solidFill>
                  <a:srgbClr val="59636E"/>
                </a:solidFill>
                <a:effectLst/>
                <a:latin typeface="-apple-system"/>
              </a:rPr>
            </a:br>
            <a:r>
              <a:rPr lang="zh-TW" altLang="en-US" b="1" i="0" dirty="0">
                <a:solidFill>
                  <a:srgbClr val="59636E"/>
                </a:solidFill>
                <a:effectLst/>
                <a:latin typeface="-apple-system"/>
              </a:rPr>
              <a:t> </a:t>
            </a:r>
            <a:r>
              <a:rPr lang="en-US" altLang="zh-TW" b="1" i="0" dirty="0">
                <a:solidFill>
                  <a:srgbClr val="59636E"/>
                </a:solidFill>
                <a:effectLst/>
                <a:latin typeface="-apple-system"/>
              </a:rPr>
              <a:t>—</a:t>
            </a:r>
            <a:r>
              <a:rPr lang="zh-TW" altLang="en-US" b="1" i="0" dirty="0">
                <a:solidFill>
                  <a:srgbClr val="59636E"/>
                </a:solidFill>
                <a:effectLst/>
                <a:latin typeface="-apple-system"/>
              </a:rPr>
              <a:t>用圖譜連結藥物與疾病的潛在可能</a:t>
            </a:r>
            <a:endParaRPr lang="zh-TW" altLang="en-US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ABF19889-4F12-965A-D862-76CC09F44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58740" y="5473437"/>
            <a:ext cx="1170434" cy="1170434"/>
          </a:xfrm>
          <a:prstGeom prst="ellipse">
            <a:avLst/>
          </a:prstGeom>
          <a:ln w="285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9C2519F-0F9D-40C5-505F-BE37CE3BD1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0644" y="295072"/>
            <a:ext cx="1170000" cy="117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50170DFB-9659-FC89-3F67-BB45CEFA86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227" y="401913"/>
            <a:ext cx="1349461" cy="1173600"/>
          </a:xfrm>
          <a:prstGeom prst="ellipse">
            <a:avLst/>
          </a:prstGeom>
          <a:ln w="28575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372226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常用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682</Words>
  <Application>Microsoft Office PowerPoint</Application>
  <PresentationFormat>寬螢幕</PresentationFormat>
  <Paragraphs>166</Paragraphs>
  <Slides>17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6" baseType="lpstr">
      <vt:lpstr>·L³n¥¿¶ÂÅé</vt:lpstr>
      <vt:lpstr>-apple-system</vt:lpstr>
      <vt:lpstr>custom-sans-serif</vt:lpstr>
      <vt:lpstr>Google Sans</vt:lpstr>
      <vt:lpstr>標楷體</vt:lpstr>
      <vt:lpstr>Arial</vt:lpstr>
      <vt:lpstr>Calibri</vt:lpstr>
      <vt:lpstr>Helvetica</vt:lpstr>
      <vt:lpstr>Office 佈景主題</vt:lpstr>
      <vt:lpstr>智創未來 : 2025 生成式AI創意設計競賽</vt:lpstr>
      <vt:lpstr>PowerPoint 簡報</vt:lpstr>
      <vt:lpstr>PowerPoint 簡報</vt:lpstr>
      <vt:lpstr>PowerPoint 簡報</vt:lpstr>
      <vt:lpstr>PowerPoint 簡報</vt:lpstr>
      <vt:lpstr>PowerPoint 簡報</vt:lpstr>
      <vt:lpstr>How to find drug?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整合知識圖譜與幾何深度學習於虛擬藥物篩選平台</vt:lpstr>
      <vt:lpstr>整合知識圖譜與幾何深度學習於虛擬藥物篩選平台</vt:lpstr>
      <vt:lpstr>PowerPoint 簡報</vt:lpstr>
      <vt:lpstr>「整合知識圖譜與幾何深度          學習於虛擬藥物篩選平台」  —用圖譜連結藥物與疾病的潛在可能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410610157 410610157</dc:creator>
  <cp:lastModifiedBy>410610157 410610157</cp:lastModifiedBy>
  <cp:revision>38</cp:revision>
  <dcterms:created xsi:type="dcterms:W3CDTF">2025-04-27T01:49:06Z</dcterms:created>
  <dcterms:modified xsi:type="dcterms:W3CDTF">2025-05-16T04:11:57Z</dcterms:modified>
</cp:coreProperties>
</file>