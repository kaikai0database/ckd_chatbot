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1599525" cy="32399288"/>
  <p:notesSz cx="6858000" cy="9144000"/>
  <p:defaultTextStyle>
    <a:defPPr>
      <a:defRPr lang="zh-TW"/>
    </a:defPPr>
    <a:lvl1pPr marL="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1pPr>
    <a:lvl2pPr marL="1295933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2pPr>
    <a:lvl3pPr marL="25918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3pPr>
    <a:lvl4pPr marL="388780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4pPr>
    <a:lvl5pPr marL="5183734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5pPr>
    <a:lvl6pPr marL="64796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6pPr>
    <a:lvl7pPr marL="777560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7pPr>
    <a:lvl8pPr marL="9071534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8pPr>
    <a:lvl9pPr marL="103674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320" y="-16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07A192-6C90-1A3E-9A71-CB46D03FA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9941" y="5302386"/>
            <a:ext cx="16199644" cy="1127975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55E1F68-2289-E926-AA16-CDFCC8167D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9CE0E4-DC33-7ED3-4E08-9A57DD84E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9A71C-71AD-423A-A251-50712AFCB532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095BAC-0F37-4BBA-22BE-76C8F943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07D073-B9EB-4C66-0961-28C989021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353-E538-4781-8565-98F7294AB8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6949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3EFC90-C877-4ED8-D443-272E9B8BD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6B1C8E-45E2-FFFF-0F3C-7952EA89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DF062A-AA03-C0E3-3BB0-4B1712B5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9A71C-71AD-423A-A251-50712AFCB532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E41F35-3532-2D45-6E82-BC4C4C99B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E35FBB-7E37-66F0-4D9C-9C962AF11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353-E538-4781-8565-98F7294AB8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080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713AD5-07AC-CC7C-8C98-0E3E8DF5B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18" y="8077327"/>
            <a:ext cx="18629590" cy="1347720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965404-8D91-9A94-9C11-4DE820189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3718" y="21682028"/>
            <a:ext cx="18629590" cy="708734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543309-E2AC-2BBF-CE7E-9FCC671B8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9A71C-71AD-423A-A251-50712AFCB532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94923F-E074-C0D9-A8F4-1B8266B6C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F89250-FA0A-484F-FCD8-3BB088C05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353-E538-4781-8565-98F7294AB8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6664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36EB96-D95D-228B-9665-21D73DE2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85617E-46C7-E8F8-C6EB-D4E818CF8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D117619-8187-B27A-5B1A-82C9A1CB8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1C99765-EACE-FAE4-188D-DBF661C9E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9A71C-71AD-423A-A251-50712AFCB532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9F3429-8EB5-1175-3BD5-E63541FFC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A735E1-335B-0E8A-1D91-405315BF4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353-E538-4781-8565-98F7294AB8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2743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03FB57-0B9F-91CE-5228-0FEEC5C90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1" y="1724964"/>
            <a:ext cx="18629590" cy="626236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CA2A16E-80B5-10DF-F557-195985294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7781" y="7942328"/>
            <a:ext cx="9137611" cy="38924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70495CF-B6B8-D0CF-E9A8-838D9649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7781" y="11834740"/>
            <a:ext cx="9137611" cy="1740712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BD40E15-CFC3-D617-2D54-04189DA7C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934760" y="7942328"/>
            <a:ext cx="9182611" cy="38924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23A2AC6-9436-DE22-9B51-840CD838E5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934760" y="11834740"/>
            <a:ext cx="9182611" cy="1740712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434115F-C73E-85B7-2B51-F94179097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9A71C-71AD-423A-A251-50712AFCB532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FC8F31A-FDC9-2A59-0381-C28307877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42D43CB-368B-AF64-4FEA-FD3494010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353-E538-4781-8565-98F7294AB8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1326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55F47D-77AB-E111-6025-A099DF899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9ED6911-E82D-C94F-AA97-0508BB4A4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9A71C-71AD-423A-A251-50712AFCB532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ACBFD30-745E-913C-6F05-B2A24073C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B9B6A3A-99D6-AC60-5861-C7D2FB7B8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353-E538-4781-8565-98F7294AB8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1638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07E3281-FDEA-F086-0C41-E13EF0C06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9A71C-71AD-423A-A251-50712AFCB532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32A0C0A-544E-3EC5-1435-1EBBE76E5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71F3C6-F6AC-C11A-E54B-BCABA1C0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353-E538-4781-8565-98F7294AB8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135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945072-5A2A-36FA-19C5-CF99DA2B2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2" y="2159952"/>
            <a:ext cx="6966408" cy="75598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5E5357-576B-1A28-98B1-EC30E32F6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2611" y="4664900"/>
            <a:ext cx="10934760" cy="230244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ED85E4E-6997-B938-D5EC-FCDBB9A74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7782" y="9719786"/>
            <a:ext cx="6966408" cy="180071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791A88-A7BA-6DEF-4C45-6AE76109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9A71C-71AD-423A-A251-50712AFCB532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6EB7F53-4547-6CF6-E411-E0420BCD2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7DD43AF-5BE2-8E38-AB35-1D9CBA1D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353-E538-4781-8565-98F7294AB8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6436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95EB00-D470-6DDC-A8AC-ACE58360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2" y="2159952"/>
            <a:ext cx="6966408" cy="75598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D557434-19CC-10C2-F2DF-3DEDA1C8FD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182611" y="4664900"/>
            <a:ext cx="10934760" cy="2302449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A8BD0F1-7CE4-A285-8883-8EA46D114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7782" y="9719786"/>
            <a:ext cx="6966408" cy="180071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B3FB3E-A892-2BD5-DF5D-7B186682E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9A71C-71AD-423A-A251-50712AFCB532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FDD143-1292-B479-DF81-6532428A6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98970B1-9C7B-F249-841B-3F7E4ADA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353-E538-4781-8565-98F7294AB8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949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FC8577-BD97-5B76-3590-92E8FEB51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4A88553-2D91-C96A-4D49-DA7E1ED4A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CBEAC0-C07A-3106-B593-617B91078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9A71C-71AD-423A-A251-50712AFCB532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1895F7-6713-5D28-A65A-ABE265689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52B734-99D1-2C6F-920E-D38BF3A0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353-E538-4781-8565-98F7294AB8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1455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74CB334-CB22-1674-C43A-6D340214A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457160" y="1724962"/>
            <a:ext cx="4657398" cy="2745689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362D89B-C269-2583-74AC-B8820BAED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84967" y="1724962"/>
            <a:ext cx="13702199" cy="2745689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B62F8E-EE3B-B1F7-0BA0-099915468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9A71C-71AD-423A-A251-50712AFCB532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3C7765-28EA-EAF2-3DCA-A25D0BEF1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05BA43-5CC0-3232-C371-30E0EE3E1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55353-E538-4781-8565-98F7294AB8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43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CB5591E-0B79-29D2-B2EE-2C2EE4FA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968" y="1724964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6022C6A-D92B-520D-DC4F-A269D4CF1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6DFDF5-AC64-8C24-CF46-1E6CD96426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84967" y="30029342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9A71C-71AD-423A-A251-50712AFCB532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F60F90-1F69-A394-76CE-643966D07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4843" y="30029342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E0DC3B-3149-FBBA-CC06-54D421CAD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54665" y="30029342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D55353-E538-4781-8565-98F7294AB8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632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圖片 34">
            <a:extLst>
              <a:ext uri="{FF2B5EF4-FFF2-40B4-BE49-F238E27FC236}">
                <a16:creationId xmlns:a16="http://schemas.microsoft.com/office/drawing/2014/main" id="{3C0D7D5A-984D-782F-E870-EC9EFE636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2" r="2142"/>
          <a:stretch/>
        </p:blipFill>
        <p:spPr>
          <a:xfrm>
            <a:off x="10224679" y="1421045"/>
            <a:ext cx="11374846" cy="22843810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EEBE0E8A-F739-0E57-ED4B-1D1F2FA6F21E}"/>
              </a:ext>
            </a:extLst>
          </p:cNvPr>
          <p:cNvSpPr/>
          <p:nvPr/>
        </p:nvSpPr>
        <p:spPr>
          <a:xfrm>
            <a:off x="-266700" y="-209550"/>
            <a:ext cx="22669500" cy="185579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122" dirty="0">
              <a:solidFill>
                <a:srgbClr val="81A1A9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825274E-946E-4DCB-CCB7-A3CE0063DB6B}"/>
              </a:ext>
            </a:extLst>
          </p:cNvPr>
          <p:cNvSpPr txBox="1"/>
          <p:nvPr/>
        </p:nvSpPr>
        <p:spPr>
          <a:xfrm>
            <a:off x="997848" y="29053"/>
            <a:ext cx="19603833" cy="1214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309101" algn="ctr">
              <a:lnSpc>
                <a:spcPct val="150000"/>
              </a:lnSpc>
            </a:pPr>
            <a:r>
              <a:rPr lang="zh-TW" altLang="zh-TW" sz="5453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整合知識圖譜進行圖像檢索增強生成技術於虛擬藥物篩選平台</a:t>
            </a:r>
            <a:endParaRPr lang="zh-TW" altLang="zh-TW" sz="5453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7C268DF7-DF8A-A8DC-9822-F217D87A853E}"/>
              </a:ext>
            </a:extLst>
          </p:cNvPr>
          <p:cNvGrpSpPr/>
          <p:nvPr/>
        </p:nvGrpSpPr>
        <p:grpSpPr>
          <a:xfrm>
            <a:off x="881456" y="1989411"/>
            <a:ext cx="7908176" cy="4767288"/>
            <a:chOff x="437409" y="2283698"/>
            <a:chExt cx="7908176" cy="4767288"/>
          </a:xfrm>
        </p:grpSpPr>
        <p:sp>
          <p:nvSpPr>
            <p:cNvPr id="6" name="矩形: 圓角 5">
              <a:extLst>
                <a:ext uri="{FF2B5EF4-FFF2-40B4-BE49-F238E27FC236}">
                  <a16:creationId xmlns:a16="http://schemas.microsoft.com/office/drawing/2014/main" id="{2810D79D-66E1-A226-3299-39A3D7C80E32}"/>
                </a:ext>
              </a:extLst>
            </p:cNvPr>
            <p:cNvSpPr/>
            <p:nvPr/>
          </p:nvSpPr>
          <p:spPr>
            <a:xfrm>
              <a:off x="437409" y="2283699"/>
              <a:ext cx="7905894" cy="476728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6122" dirty="0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84ED463A-CC77-73BF-B1AF-C5C871913375}"/>
                </a:ext>
              </a:extLst>
            </p:cNvPr>
            <p:cNvSpPr txBox="1"/>
            <p:nvPr/>
          </p:nvSpPr>
          <p:spPr>
            <a:xfrm>
              <a:off x="989661" y="2494377"/>
              <a:ext cx="23762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8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傳統藥物設計</a:t>
              </a:r>
            </a:p>
          </p:txBody>
        </p: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70B44F02-B225-B683-34E8-47C3F0F05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2856" y="3152447"/>
              <a:ext cx="900000" cy="900000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121ED238-6EDD-9B4D-BA85-7DB731732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28303" y="3173658"/>
              <a:ext cx="900000" cy="900000"/>
            </a:xfrm>
            <a:prstGeom prst="rect">
              <a:avLst/>
            </a:prstGeom>
          </p:spPr>
        </p:pic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EB9BD759-4858-D4AB-E973-D6F3F0D02915}"/>
                </a:ext>
              </a:extLst>
            </p:cNvPr>
            <p:cNvSpPr/>
            <p:nvPr/>
          </p:nvSpPr>
          <p:spPr>
            <a:xfrm>
              <a:off x="4166839" y="2283698"/>
              <a:ext cx="4178746" cy="476728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6122" dirty="0"/>
            </a:p>
          </p:txBody>
        </p:sp>
        <p:sp>
          <p:nvSpPr>
            <p:cNvPr id="11" name="箭號: 五邊形 12">
              <a:extLst>
                <a:ext uri="{FF2B5EF4-FFF2-40B4-BE49-F238E27FC236}">
                  <a16:creationId xmlns:a16="http://schemas.microsoft.com/office/drawing/2014/main" id="{60338D97-D283-D675-54D0-DC68212E5E9F}"/>
                </a:ext>
              </a:extLst>
            </p:cNvPr>
            <p:cNvSpPr/>
            <p:nvPr/>
          </p:nvSpPr>
          <p:spPr>
            <a:xfrm>
              <a:off x="811316" y="4323445"/>
              <a:ext cx="4040513" cy="998556"/>
            </a:xfrm>
            <a:custGeom>
              <a:avLst/>
              <a:gdLst>
                <a:gd name="connsiteX0" fmla="*/ 0 w 3609226"/>
                <a:gd name="connsiteY0" fmla="*/ 0 h 954106"/>
                <a:gd name="connsiteX1" fmla="*/ 2943489 w 3609226"/>
                <a:gd name="connsiteY1" fmla="*/ 0 h 954106"/>
                <a:gd name="connsiteX2" fmla="*/ 3609226 w 3609226"/>
                <a:gd name="connsiteY2" fmla="*/ 477053 h 954106"/>
                <a:gd name="connsiteX3" fmla="*/ 2943489 w 3609226"/>
                <a:gd name="connsiteY3" fmla="*/ 954106 h 954106"/>
                <a:gd name="connsiteX4" fmla="*/ 0 w 3609226"/>
                <a:gd name="connsiteY4" fmla="*/ 954106 h 954106"/>
                <a:gd name="connsiteX5" fmla="*/ 0 w 3609226"/>
                <a:gd name="connsiteY5" fmla="*/ 0 h 954106"/>
                <a:gd name="connsiteX0" fmla="*/ 0 w 3609226"/>
                <a:gd name="connsiteY0" fmla="*/ 0 h 983135"/>
                <a:gd name="connsiteX1" fmla="*/ 2943489 w 3609226"/>
                <a:gd name="connsiteY1" fmla="*/ 0 h 983135"/>
                <a:gd name="connsiteX2" fmla="*/ 3609226 w 3609226"/>
                <a:gd name="connsiteY2" fmla="*/ 477053 h 983135"/>
                <a:gd name="connsiteX3" fmla="*/ 2943489 w 3609226"/>
                <a:gd name="connsiteY3" fmla="*/ 954106 h 983135"/>
                <a:gd name="connsiteX4" fmla="*/ 0 w 3609226"/>
                <a:gd name="connsiteY4" fmla="*/ 983135 h 983135"/>
                <a:gd name="connsiteX5" fmla="*/ 0 w 3609226"/>
                <a:gd name="connsiteY5" fmla="*/ 0 h 983135"/>
                <a:gd name="connsiteX0" fmla="*/ 0 w 3609226"/>
                <a:gd name="connsiteY0" fmla="*/ 0 h 983135"/>
                <a:gd name="connsiteX1" fmla="*/ 2943489 w 3609226"/>
                <a:gd name="connsiteY1" fmla="*/ 0 h 983135"/>
                <a:gd name="connsiteX2" fmla="*/ 3609226 w 3609226"/>
                <a:gd name="connsiteY2" fmla="*/ 477053 h 983135"/>
                <a:gd name="connsiteX3" fmla="*/ 2943489 w 3609226"/>
                <a:gd name="connsiteY3" fmla="*/ 954106 h 983135"/>
                <a:gd name="connsiteX4" fmla="*/ 0 w 3609226"/>
                <a:gd name="connsiteY4" fmla="*/ 983135 h 983135"/>
                <a:gd name="connsiteX5" fmla="*/ 0 w 3609226"/>
                <a:gd name="connsiteY5" fmla="*/ 0 h 983135"/>
                <a:gd name="connsiteX0" fmla="*/ 0 w 3609226"/>
                <a:gd name="connsiteY0" fmla="*/ 0 h 988478"/>
                <a:gd name="connsiteX1" fmla="*/ 2943489 w 3609226"/>
                <a:gd name="connsiteY1" fmla="*/ 0 h 988478"/>
                <a:gd name="connsiteX2" fmla="*/ 3609226 w 3609226"/>
                <a:gd name="connsiteY2" fmla="*/ 477053 h 988478"/>
                <a:gd name="connsiteX3" fmla="*/ 2943489 w 3609226"/>
                <a:gd name="connsiteY3" fmla="*/ 954106 h 988478"/>
                <a:gd name="connsiteX4" fmla="*/ 0 w 3609226"/>
                <a:gd name="connsiteY4" fmla="*/ 983135 h 988478"/>
                <a:gd name="connsiteX5" fmla="*/ 0 w 3609226"/>
                <a:gd name="connsiteY5" fmla="*/ 0 h 988478"/>
                <a:gd name="connsiteX0" fmla="*/ 0 w 3331715"/>
                <a:gd name="connsiteY0" fmla="*/ 0 h 988478"/>
                <a:gd name="connsiteX1" fmla="*/ 2943489 w 3331715"/>
                <a:gd name="connsiteY1" fmla="*/ 0 h 988478"/>
                <a:gd name="connsiteX2" fmla="*/ 3331715 w 3331715"/>
                <a:gd name="connsiteY2" fmla="*/ 489753 h 988478"/>
                <a:gd name="connsiteX3" fmla="*/ 2943489 w 3331715"/>
                <a:gd name="connsiteY3" fmla="*/ 954106 h 988478"/>
                <a:gd name="connsiteX4" fmla="*/ 0 w 3331715"/>
                <a:gd name="connsiteY4" fmla="*/ 983135 h 988478"/>
                <a:gd name="connsiteX5" fmla="*/ 0 w 3331715"/>
                <a:gd name="connsiteY5" fmla="*/ 0 h 988478"/>
                <a:gd name="connsiteX0" fmla="*/ 0 w 3331715"/>
                <a:gd name="connsiteY0" fmla="*/ 0 h 998556"/>
                <a:gd name="connsiteX1" fmla="*/ 2943489 w 3331715"/>
                <a:gd name="connsiteY1" fmla="*/ 0 h 998556"/>
                <a:gd name="connsiteX2" fmla="*/ 3331715 w 3331715"/>
                <a:gd name="connsiteY2" fmla="*/ 489753 h 998556"/>
                <a:gd name="connsiteX3" fmla="*/ 2943489 w 3331715"/>
                <a:gd name="connsiteY3" fmla="*/ 998556 h 998556"/>
                <a:gd name="connsiteX4" fmla="*/ 0 w 3331715"/>
                <a:gd name="connsiteY4" fmla="*/ 983135 h 998556"/>
                <a:gd name="connsiteX5" fmla="*/ 0 w 3331715"/>
                <a:gd name="connsiteY5" fmla="*/ 0 h 998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31715" h="998556">
                  <a:moveTo>
                    <a:pt x="0" y="0"/>
                  </a:moveTo>
                  <a:lnTo>
                    <a:pt x="2943489" y="0"/>
                  </a:lnTo>
                  <a:lnTo>
                    <a:pt x="3331715" y="489753"/>
                  </a:lnTo>
                  <a:lnTo>
                    <a:pt x="2943489" y="998556"/>
                  </a:lnTo>
                  <a:lnTo>
                    <a:pt x="0" y="9831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3316D0F9-32F1-DDC0-977A-5CC56D44B1D2}"/>
                </a:ext>
              </a:extLst>
            </p:cNvPr>
            <p:cNvSpPr txBox="1"/>
            <p:nvPr/>
          </p:nvSpPr>
          <p:spPr>
            <a:xfrm>
              <a:off x="1000851" y="4379732"/>
              <a:ext cx="2557110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800" b="1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10-15</a:t>
              </a:r>
              <a:r>
                <a:rPr lang="zh-TW" altLang="en-US" sz="28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年</a:t>
              </a:r>
              <a:endParaRPr lang="en-US" altLang="zh-TW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  <a:p>
              <a:pPr algn="ctr"/>
              <a:r>
                <a:rPr lang="en-US" altLang="zh-TW" sz="2800" b="1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150-200</a:t>
              </a:r>
              <a:r>
                <a:rPr lang="zh-TW" altLang="en-US" sz="28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億台幣</a:t>
              </a: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51369EB1-8014-462C-33CD-529F2408C504}"/>
                </a:ext>
              </a:extLst>
            </p:cNvPr>
            <p:cNvSpPr txBox="1"/>
            <p:nvPr/>
          </p:nvSpPr>
          <p:spPr>
            <a:xfrm>
              <a:off x="5068080" y="2494377"/>
              <a:ext cx="23762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8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虛擬藥物篩選</a:t>
              </a:r>
            </a:p>
          </p:txBody>
        </p:sp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00D8AFFC-54C7-BD87-4D62-3ADAE4B0E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76475" y="3152447"/>
              <a:ext cx="900000" cy="900000"/>
            </a:xfrm>
            <a:prstGeom prst="rect">
              <a:avLst/>
            </a:prstGeom>
          </p:spPr>
        </p:pic>
        <p:sp>
          <p:nvSpPr>
            <p:cNvPr id="15" name="箭號: ＞形 14">
              <a:extLst>
                <a:ext uri="{FF2B5EF4-FFF2-40B4-BE49-F238E27FC236}">
                  <a16:creationId xmlns:a16="http://schemas.microsoft.com/office/drawing/2014/main" id="{85BDAD15-C982-46BB-D9DC-8906CF4FF0D9}"/>
                </a:ext>
              </a:extLst>
            </p:cNvPr>
            <p:cNvSpPr/>
            <p:nvPr/>
          </p:nvSpPr>
          <p:spPr>
            <a:xfrm>
              <a:off x="4566228" y="4323444"/>
              <a:ext cx="3705067" cy="998557"/>
            </a:xfrm>
            <a:prstGeom prst="chevron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E3270E54-1C98-29CC-830B-44C1423312D1}"/>
                </a:ext>
              </a:extLst>
            </p:cNvPr>
            <p:cNvSpPr txBox="1"/>
            <p:nvPr/>
          </p:nvSpPr>
          <p:spPr>
            <a:xfrm>
              <a:off x="5426475" y="4345668"/>
              <a:ext cx="2270173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800" b="1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5-7</a:t>
              </a:r>
              <a:r>
                <a:rPr lang="zh-TW" altLang="en-US" sz="28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年</a:t>
              </a:r>
              <a:endParaRPr lang="en-US" altLang="zh-TW" sz="28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  <a:p>
              <a:pPr algn="ctr"/>
              <a:r>
                <a:rPr lang="en-US" altLang="zh-TW" sz="2800" b="1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50-80</a:t>
              </a:r>
              <a:r>
                <a:rPr lang="zh-TW" altLang="en-US" sz="28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億台幣</a:t>
              </a:r>
            </a:p>
          </p:txBody>
        </p:sp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3117C5BC-6700-FE9E-D656-ED83EB6EF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65011" y="3152447"/>
              <a:ext cx="900000" cy="900000"/>
            </a:xfrm>
            <a:prstGeom prst="rect">
              <a:avLst/>
            </a:prstGeom>
          </p:spPr>
        </p:pic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FC54A36B-3B7B-647D-5B61-89F3C7A264A7}"/>
                </a:ext>
              </a:extLst>
            </p:cNvPr>
            <p:cNvSpPr txBox="1"/>
            <p:nvPr/>
          </p:nvSpPr>
          <p:spPr>
            <a:xfrm>
              <a:off x="4392177" y="5924883"/>
              <a:ext cx="280397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TW" altLang="en-US" sz="28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準確性</a:t>
              </a:r>
              <a:r>
                <a:rPr lang="en-US" altLang="zh-TW" sz="28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</a:t>
              </a:r>
              <a:r>
                <a:rPr lang="zh-TW" altLang="en-US" sz="28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篩選速度</a:t>
              </a: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31A89CC3-0306-D190-305A-F614BAE0E6D3}"/>
                </a:ext>
              </a:extLst>
            </p:cNvPr>
            <p:cNvSpPr txBox="1"/>
            <p:nvPr/>
          </p:nvSpPr>
          <p:spPr>
            <a:xfrm>
              <a:off x="745264" y="5894106"/>
              <a:ext cx="225093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TW" sz="3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60%</a:t>
              </a:r>
              <a:r>
                <a:rPr lang="zh-TW" altLang="en-US" sz="3200" dirty="0"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失敗率</a:t>
              </a:r>
              <a:endParaRPr lang="en-US" altLang="zh-TW" sz="32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</p:txBody>
        </p:sp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BD2BA658-3900-E587-9992-D839D94C65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57571" y="5916493"/>
              <a:ext cx="540000" cy="540000"/>
            </a:xfrm>
            <a:prstGeom prst="rect">
              <a:avLst/>
            </a:prstGeom>
          </p:spPr>
        </p:pic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6B40E9B0-5340-7525-3EBB-00D168F75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98432" y="5736493"/>
              <a:ext cx="900000" cy="900000"/>
            </a:xfrm>
            <a:prstGeom prst="rect">
              <a:avLst/>
            </a:prstGeom>
          </p:spPr>
        </p:pic>
      </p:grpSp>
      <p:pic>
        <p:nvPicPr>
          <p:cNvPr id="37" name="圖片 36">
            <a:extLst>
              <a:ext uri="{FF2B5EF4-FFF2-40B4-BE49-F238E27FC236}">
                <a16:creationId xmlns:a16="http://schemas.microsoft.com/office/drawing/2014/main" id="{F06ECFDC-1BEB-C033-456C-BEDBC64085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20" y="11774706"/>
            <a:ext cx="8885309" cy="4997986"/>
          </a:xfrm>
          <a:prstGeom prst="rect">
            <a:avLst/>
          </a:prstGeom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AD12C096-B7B8-F4C7-3CBA-8234586619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3993" y="28517676"/>
            <a:ext cx="2973194" cy="2973194"/>
          </a:xfrm>
          <a:prstGeom prst="rect">
            <a:avLst/>
          </a:prstGeom>
        </p:spPr>
      </p:pic>
      <p:sp>
        <p:nvSpPr>
          <p:cNvPr id="42" name="文字方塊 41">
            <a:extLst>
              <a:ext uri="{FF2B5EF4-FFF2-40B4-BE49-F238E27FC236}">
                <a16:creationId xmlns:a16="http://schemas.microsoft.com/office/drawing/2014/main" id="{65439CDD-BEA3-30DF-92D2-1ECCFE697C2E}"/>
              </a:ext>
            </a:extLst>
          </p:cNvPr>
          <p:cNvSpPr txBox="1"/>
          <p:nvPr/>
        </p:nvSpPr>
        <p:spPr>
          <a:xfrm>
            <a:off x="2057400" y="7226481"/>
            <a:ext cx="6793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藥物設計耗時費力，在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50,000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個化合物中，僅有十二分之一能進入人體臨床試驗並最終上市。</a:t>
            </a:r>
          </a:p>
        </p:txBody>
      </p:sp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542054A5-B5B2-FF78-F9B1-1C270CF05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999389"/>
              </p:ext>
            </p:extLst>
          </p:nvPr>
        </p:nvGraphicFramePr>
        <p:xfrm>
          <a:off x="945166" y="8579326"/>
          <a:ext cx="8236934" cy="28041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242720">
                  <a:extLst>
                    <a:ext uri="{9D8B030D-6E8A-4147-A177-3AD203B41FA5}">
                      <a16:colId xmlns:a16="http://schemas.microsoft.com/office/drawing/2014/main" val="3670162060"/>
                    </a:ext>
                  </a:extLst>
                </a:gridCol>
                <a:gridCol w="3146114">
                  <a:extLst>
                    <a:ext uri="{9D8B030D-6E8A-4147-A177-3AD203B41FA5}">
                      <a16:colId xmlns:a16="http://schemas.microsoft.com/office/drawing/2014/main" val="2278926189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8209907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46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方法</a:t>
                      </a:r>
                    </a:p>
                    <a:p>
                      <a:pPr algn="ctr"/>
                      <a:endParaRPr lang="zh-TW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虛擬藥物篩選</a:t>
                      </a:r>
                      <a:endParaRPr lang="en-US" altLang="zh-TW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endParaRPr lang="zh-TW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處理速度快、成本低等優勢</a:t>
                      </a:r>
                      <a:endParaRPr lang="en-US" altLang="zh-TW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且能更清晰地理解分子機制</a:t>
                      </a:r>
                    </a:p>
                    <a:p>
                      <a:pPr algn="ctr"/>
                      <a:endParaRPr lang="zh-TW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43352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工具</a:t>
                      </a:r>
                    </a:p>
                    <a:p>
                      <a:pPr algn="ctr"/>
                      <a:endParaRPr lang="zh-TW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知識圖譜</a:t>
                      </a:r>
                      <a:endParaRPr lang="en-US" altLang="zh-TW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endParaRPr lang="zh-TW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將複雜關係轉化為節點和邊</a:t>
                      </a:r>
                    </a:p>
                    <a:p>
                      <a:pPr algn="ctr"/>
                      <a:endParaRPr lang="zh-TW" altLang="en-US" sz="20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8279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 err="1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TxGNN</a:t>
                      </a:r>
                      <a:r>
                        <a:rPr lang="zh-TW" altLang="en-US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幾何深度學習模型</a:t>
                      </a:r>
                      <a:endParaRPr lang="en-US" altLang="zh-TW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endParaRPr lang="zh-TW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訓練分析疾病與藥物之間的關係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649316"/>
                  </a:ext>
                </a:extLst>
              </a:tr>
            </a:tbl>
          </a:graphicData>
        </a:graphic>
      </p:graphicFrame>
      <p:pic>
        <p:nvPicPr>
          <p:cNvPr id="50" name="圖片 49">
            <a:extLst>
              <a:ext uri="{FF2B5EF4-FFF2-40B4-BE49-F238E27FC236}">
                <a16:creationId xmlns:a16="http://schemas.microsoft.com/office/drawing/2014/main" id="{B4D13155-2015-DD63-0CA9-FF772CD18A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3071" y="7113936"/>
            <a:ext cx="900000" cy="900000"/>
          </a:xfrm>
          <a:prstGeom prst="rect">
            <a:avLst/>
          </a:prstGeom>
        </p:spPr>
      </p:pic>
      <p:sp>
        <p:nvSpPr>
          <p:cNvPr id="51" name="文字方塊 50">
            <a:extLst>
              <a:ext uri="{FF2B5EF4-FFF2-40B4-BE49-F238E27FC236}">
                <a16:creationId xmlns:a16="http://schemas.microsoft.com/office/drawing/2014/main" id="{6FFC87AB-3F92-DA5E-A81B-D67FD525870C}"/>
              </a:ext>
            </a:extLst>
          </p:cNvPr>
          <p:cNvSpPr txBox="1"/>
          <p:nvPr/>
        </p:nvSpPr>
        <p:spPr>
          <a:xfrm>
            <a:off x="368122" y="16897090"/>
            <a:ext cx="9284303" cy="3729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TxGNN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在面對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Contraindication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Indication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Off-label Use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三種關係時，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Indication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取得最高的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Accuracy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0.933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Off-label Use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最低為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0.888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表示模型在預測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Indication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關係的準確率最佳，整體分類表現最優。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Indication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AUROC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比另外兩種關係分數高，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而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AUROC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越高，代表模型的區分能力 越好，表示模型在區分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Indication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關係的正負樣本時能力最強，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Contraindication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則最 弱。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AUPRC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主要用於衡量高度不平衡數據中的預測能力，模型在面對三種關係的分數 都偏低，顯示模型在識別少數類別時容易出錯。</a:t>
            </a: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0274623-D91F-7B86-4B70-FED1EA54DE52}"/>
              </a:ext>
            </a:extLst>
          </p:cNvPr>
          <p:cNvSpPr txBox="1"/>
          <p:nvPr/>
        </p:nvSpPr>
        <p:spPr>
          <a:xfrm>
            <a:off x="1163071" y="2684176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檢索預測模組</a:t>
            </a:r>
            <a:endParaRPr lang="zh-TW" altLang="en-US" sz="2000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A13C5602-D8D3-2271-F864-7A522EC2A77E}"/>
              </a:ext>
            </a:extLst>
          </p:cNvPr>
          <p:cNvSpPr txBox="1"/>
          <p:nvPr/>
        </p:nvSpPr>
        <p:spPr>
          <a:xfrm>
            <a:off x="242787" y="27851571"/>
            <a:ext cx="4295829" cy="3729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檢索與預測區塊則為迭代流程，在使用者每次向虛擬藥物篩選平台提交查詢時啟動。 系統結合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TxGNN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預測結果並透過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PyCharts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套件將藥物排序 列表與疾病關聯進行視覺化呈現。最終，透過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Streamlit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套件將生成結果呈現於直觀的 虛擬藥物篩選介面，供使用者參考。 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0F05FE3E-0ADB-43D5-4976-6F9FFF499E6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89" y="20712712"/>
            <a:ext cx="12252338" cy="6891940"/>
          </a:xfrm>
          <a:prstGeom prst="rect">
            <a:avLst/>
          </a:prstGeom>
        </p:spPr>
      </p:pic>
      <p:sp>
        <p:nvSpPr>
          <p:cNvPr id="56" name="文字方塊 55">
            <a:extLst>
              <a:ext uri="{FF2B5EF4-FFF2-40B4-BE49-F238E27FC236}">
                <a16:creationId xmlns:a16="http://schemas.microsoft.com/office/drawing/2014/main" id="{CC94E9A0-329D-C153-263C-999DC02C4F7F}"/>
              </a:ext>
            </a:extLst>
          </p:cNvPr>
          <p:cNvSpPr txBox="1"/>
          <p:nvPr/>
        </p:nvSpPr>
        <p:spPr>
          <a:xfrm>
            <a:off x="8427490" y="21659987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知識圖譜建構區塊</a:t>
            </a:r>
            <a:endParaRPr lang="zh-TW" altLang="en-US" sz="2000" dirty="0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724013A6-B91F-B2B8-9E8B-7017CA2996A0}"/>
              </a:ext>
            </a:extLst>
          </p:cNvPr>
          <p:cNvSpPr txBox="1"/>
          <p:nvPr/>
        </p:nvSpPr>
        <p:spPr>
          <a:xfrm>
            <a:off x="4594520" y="27851571"/>
            <a:ext cx="4392164" cy="3267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TxGNN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模型訓練區塊同樣為一次性執行流程，利用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PrimeKG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資料集進行訓練。 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TxGNN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模型流程包括模型初始化訓練與預測資料集分割、模型預訓練模型微調、 預測準確度驗證以及訓練效能評估。這些步驟確保模型能夠有效學習知識圖譜中的結 構化資訊。 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36DE4247-0C04-6642-DC18-F1E6FB518420}"/>
              </a:ext>
            </a:extLst>
          </p:cNvPr>
          <p:cNvSpPr txBox="1"/>
          <p:nvPr/>
        </p:nvSpPr>
        <p:spPr>
          <a:xfrm>
            <a:off x="12539893" y="28467154"/>
            <a:ext cx="8466842" cy="3267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我們希望這項研究能夠找出目前未知的藥物與疾病之間的關係，不僅有助於理 解疾病的機制，也為未來的藥物設計提供了新的發展方向。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未來研究可結合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AlphaFold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深度學習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模型，預測潛在治療化合物的蛋白質三維結構，並整合分子對接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(docking)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技術，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通過建立合理的藥效團模型、準確測定或預測標靶蛋白質的分子結構，計算候 選化合物與標靶的相互作用。透過這些創新方法和技術，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我們期望能加速藥物發現的 進程，最終改善患者的治療效果。 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8B709D6-F94C-E55F-2589-1C9C0DAA8578}"/>
              </a:ext>
            </a:extLst>
          </p:cNvPr>
          <p:cNvSpPr txBox="1"/>
          <p:nvPr/>
        </p:nvSpPr>
        <p:spPr>
          <a:xfrm>
            <a:off x="12539893" y="24051360"/>
            <a:ext cx="8213054" cy="3729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知識圖譜建構區塊為一次性執行流程（圖中灰色區塊），始於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PrimeKG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資料集的導 入。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Neo4j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資料庫建構流程將數據轉化為知識圖譜，包括建立與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Neo4j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資料庫的連接、 從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PrimeKG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資料集擷取節點與關聯資訊、使用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Cypher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查詢語法在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Neo4j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中建立節點與關聯，最後驗證所有節點的成功建立狀態。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此整合方法結合了知識圖譜的結構優勢與幾何神經網路的預測能力，創建出全面性的 虛擬藥物篩選平台，為疾病治療藥物開發提供有效的虛擬篩選工具。</a:t>
            </a:r>
          </a:p>
        </p:txBody>
      </p: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327B37AE-3F44-6147-A9EF-2FDD17439065}"/>
              </a:ext>
            </a:extLst>
          </p:cNvPr>
          <p:cNvCxnSpPr>
            <a:cxnSpLocks/>
          </p:cNvCxnSpPr>
          <p:nvPr/>
        </p:nvCxnSpPr>
        <p:spPr>
          <a:xfrm>
            <a:off x="9152428" y="27974329"/>
            <a:ext cx="25821" cy="446400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98B90794-5A4A-B0E2-B65D-402459DA2D16}"/>
              </a:ext>
            </a:extLst>
          </p:cNvPr>
          <p:cNvCxnSpPr>
            <a:cxnSpLocks/>
          </p:cNvCxnSpPr>
          <p:nvPr/>
        </p:nvCxnSpPr>
        <p:spPr>
          <a:xfrm rot="16200000">
            <a:off x="15465339" y="21669175"/>
            <a:ext cx="25821" cy="1260000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602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591</Words>
  <Application>Microsoft Office PowerPoint</Application>
  <PresentationFormat>自訂</PresentationFormat>
  <Paragraphs>35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Microsoft JhengHei Light</vt:lpstr>
      <vt:lpstr>微軟正黑體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育全 林</dc:creator>
  <cp:lastModifiedBy>410610157 410610157</cp:lastModifiedBy>
  <cp:revision>8</cp:revision>
  <dcterms:created xsi:type="dcterms:W3CDTF">2025-05-16T04:42:12Z</dcterms:created>
  <dcterms:modified xsi:type="dcterms:W3CDTF">2025-05-16T06:04:15Z</dcterms:modified>
</cp:coreProperties>
</file>